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8" r:id="rId16"/>
    <p:sldId id="270" r:id="rId17"/>
    <p:sldId id="271" r:id="rId18"/>
    <p:sldId id="272" r:id="rId19"/>
    <p:sldId id="273" r:id="rId20"/>
    <p:sldId id="274" r:id="rId21"/>
    <p:sldId id="275" r:id="rId22"/>
    <p:sldId id="276" r:id="rId23"/>
    <p:sldId id="277"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2252"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2035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the time. This is a short, honest report of the export platform: what we set out to build, how much time we had, what is done after four months, and what I added along the way. I'll walk through the actual export process at the end so you can see it the way the team uses it every day.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original roadmap is one platform covering the whole value chain in five projects, planned over twelve months for a team of two to three developers plus an analyst. The plan itself said to build Export first, because it is the biggest daily pain and everything else depends on its data. I followed that priority.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numbers to keep in mind for the rest of this. First, the team: the plan assumed two to three developers and an analyst — this was built by one person with AI assistance. Second, the time: planning started late February, coding mid-March, and we are reviewing at the end of May. That is under four months of build, with a very short window up front to learn the business in detail. I mention this not as an excuse — the result stands on its own — but so the scope is judged against the time and the people that were actually behind 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headline: in under four months, roughly forty percent of a twelve-month, five-project plan is done. But it is not a flat forty percent everywhere — the work was concentrated where it matters most. The Export project, the one the roadmap said to do first, is about ninety percent complete and already running in daily use. So the most important and most-used part of the whole plan is essentially live.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Breaking the forty percent down by project. Export is at ninety percent and in production. The executive and finance dashboards are about forty percent — the screens exist, the accounting-system integrations are still ahead. Contracts is about thirty-five percent — contracts, invoices and the debt view are in, the document auto-generation is the next big piece. Greenhouse is early, and Transport has not started. This is deliberate: highest-value first, exactly as the plan ordered 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large part of the four months went into things that were not in the original plan. Some were asked for during the project — the kanban boards and tasks. Others came from talking to the people who actually use the system every day. The biggest of these is the spreadsheet view, which I'll explain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want to be honest about the spreadsheet view, because at first glance it can look like we just rebuilt Excel. We did not. The biggest risk to this whole project was that people would refuse to leave their spreadsheets — the roadmap itself listed this as the number-one risk. The team told me directly they would not switch. So I made the platform feel like what they already know, while underneath it is connected, validated, and a single source of truth. This is how we get real adoption instead of people quietly going back to their own files.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I'll show the actual export process, screen by screen, the way the team sees it when they log in — not the admin view. This is a single shipment travelling from harvest, through documents and customs, to sale and final report. Each screen here is a real, working part of that flow.</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Daily landing page for every role — key stats, alerts (missing reports, quota, document queue), active shipments and routes.  (Capture instruction on the slide: SCREEN: Home / Dashboard (right after login)  ·  login as export_manager)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Supply side: harvest entered per block, then turned into one-truck shipment drafts — the start of the export pipeline.  (Capture instruction on the slide: SCREEN: Daily Harvest board / Draft pool  ·  login as loading_dept_head or export_manager)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Spreadsheet-style grid all 9 roles work in. Inline editing, frozen rows/columns, copy/paste, undo, per-cell comments — but every change is validated and shared in real time.  (Capture instruction on the slide: SCREEN: Shipments → Sheet view  ·  login as export_manager (NOT admin))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shipment flows through 7 phases (Plan → Prep → Docs → Load → Transit → Dest → Close), with average time-in-phase per column.  (Capture instruction on the slide: SCREEN: Shipments → Board (Kanban)  ·  login as export_manager)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Full record of one shipment with the 13-step timeline, weights, firm splits, documents and status history.  (Capture instruction on the slide: SCREEN: open any shipment → Detail (show the 13-step timeline)  ·  login as export_manager)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Government 1:10 quota tracking per firm — usage, remaining balance, per-firm progress and alerts.  (Capture instruction on the slide: SCREEN: Quota dashboard  ·  login as export_manager)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Block × day planning grid — plan vs. actual, feeding the export pipeline.  (Capture instruction on the slide: SCREEN: Weekly harvest planning grid  ·  login as export_manager)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employee's personal board: to-do / in progress / blocked / done-today, drawn from tasks assigned across shipments.  (Capture instruction on the slide: SCREEN: My Tasks board  ·  login as any role that has tasks)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Threaded comments with @user / @role mentions attached to specific cells — replaces the WhatsApp coordination.  (Capture instruction on the slide: SCREEN: open the Comments drawer on a Sheet cell  ·  login as export_manager)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Management view: revenue, outstanding debt by firm, firm-risk matrix, route profitability and quota status.  (Capture instruction on the slide: SCREEN: Boss / executive dashboard  ·  login as director or boss)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Contract registry and invoice tracking with the outstanding-debt breakdown.  (Capture instruction on the slide: SCREEN: Contracts list + Invoices  ·  login as export_manager or finansist)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Configurable role/page/field permissions, reference data, seasons and audit log — the administration layer behind the operational views.  (Capture instruction on the slide: SCREEN: Admin → Permissions / Users  ·  login as admin)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want to be clear about what is not done yet, so there are no surprises. The biggest remaining piece is the document auto-generation — the two to three hours of manual filling every day. Then transport and fleet, greenhouse depth, and the accounting integrations. The work is well-understood; it is a question of time and priority from here.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summarise: in under four months, one person with AI built about forty percent of a twelve-month, five-project plan — with the core export platform live and in daily use, plus a lot of extra work to make sure people actually adopt it. The full export process is working end to end in the operational views I just showed. The remaining work is clear and scoped. Thank you — I'm happy to take questions or walk through any screen in more detail.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617720"/>
            <a:ext cx="12191695"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737360"/>
            <a:ext cx="10515600" cy="457200"/>
          </a:xfrm>
          <a:prstGeom prst="rect">
            <a:avLst/>
          </a:prstGeom>
          <a:noFill/>
        </p:spPr>
        <p:txBody>
          <a:bodyPr wrap="square" anchor="t">
            <a:spAutoFit/>
          </a:bodyPr>
          <a:lstStyle/>
          <a:p>
            <a:pPr algn="l"/>
            <a:r>
              <a:rPr sz="1600" b="1" i="0">
                <a:solidFill>
                  <a:srgbClr val="E07A3F"/>
                </a:solidFill>
                <a:latin typeface="Calibri"/>
              </a:rPr>
              <a:t>YGT HOLDING  ·  DIGITAL TRANSFORMATION</a:t>
            </a:r>
          </a:p>
        </p:txBody>
      </p:sp>
      <p:sp>
        <p:nvSpPr>
          <p:cNvPr id="5" name="TextBox 4"/>
          <p:cNvSpPr txBox="1"/>
          <p:nvPr/>
        </p:nvSpPr>
        <p:spPr>
          <a:xfrm>
            <a:off x="822960" y="2240280"/>
            <a:ext cx="10515600" cy="1463040"/>
          </a:xfrm>
          <a:prstGeom prst="rect">
            <a:avLst/>
          </a:prstGeom>
          <a:noFill/>
        </p:spPr>
        <p:txBody>
          <a:bodyPr wrap="square" anchor="t">
            <a:spAutoFit/>
          </a:bodyPr>
          <a:lstStyle/>
          <a:p>
            <a:pPr algn="l"/>
            <a:r>
              <a:rPr sz="4600" b="1" i="0">
                <a:solidFill>
                  <a:srgbClr val="FFFFFF"/>
                </a:solidFill>
                <a:latin typeface="Calibri"/>
              </a:rPr>
              <a:t>Export Platform — Progress Report</a:t>
            </a:r>
          </a:p>
        </p:txBody>
      </p:sp>
      <p:sp>
        <p:nvSpPr>
          <p:cNvPr id="6" name="TextBox 5"/>
          <p:cNvSpPr txBox="1"/>
          <p:nvPr/>
        </p:nvSpPr>
        <p:spPr>
          <a:xfrm>
            <a:off x="822960" y="3566160"/>
            <a:ext cx="10515600" cy="731520"/>
          </a:xfrm>
          <a:prstGeom prst="rect">
            <a:avLst/>
          </a:prstGeom>
          <a:noFill/>
        </p:spPr>
        <p:txBody>
          <a:bodyPr wrap="square" anchor="t">
            <a:spAutoFit/>
          </a:bodyPr>
          <a:lstStyle/>
          <a:p>
            <a:pPr algn="l"/>
            <a:r>
              <a:rPr sz="2000" b="0" i="0">
                <a:solidFill>
                  <a:srgbClr val="C8D0D8"/>
                </a:solidFill>
                <a:latin typeface="Calibri"/>
              </a:rPr>
              <a:t>What was planned · time given · what was delivered in 4 months</a:t>
            </a:r>
          </a:p>
        </p:txBody>
      </p:sp>
      <p:sp>
        <p:nvSpPr>
          <p:cNvPr id="7" name="TextBox 6"/>
          <p:cNvSpPr txBox="1"/>
          <p:nvPr/>
        </p:nvSpPr>
        <p:spPr>
          <a:xfrm>
            <a:off x="822960" y="4937760"/>
            <a:ext cx="10515600" cy="457200"/>
          </a:xfrm>
          <a:prstGeom prst="rect">
            <a:avLst/>
          </a:prstGeom>
          <a:noFill/>
        </p:spPr>
        <p:txBody>
          <a:bodyPr wrap="square" anchor="t">
            <a:spAutoFit/>
          </a:bodyPr>
          <a:lstStyle/>
          <a:p>
            <a:pPr algn="l"/>
            <a:r>
              <a:rPr sz="1500" b="0" i="0">
                <a:solidFill>
                  <a:srgbClr val="9AA5B1"/>
                </a:solidFill>
                <a:latin typeface="Calibri"/>
              </a:rPr>
              <a:t>Built solo with AI assistance   ·   February – 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058400" cy="365760"/>
          </a:xfrm>
          <a:prstGeom prst="rect">
            <a:avLst/>
          </a:prstGeom>
          <a:noFill/>
        </p:spPr>
        <p:txBody>
          <a:bodyPr wrap="square" anchor="t">
            <a:spAutoFit/>
          </a:bodyPr>
          <a:lstStyle/>
          <a:p>
            <a:pPr algn="l"/>
            <a:r>
              <a:rPr sz="1200" b="1" i="0">
                <a:solidFill>
                  <a:srgbClr val="E07A3F"/>
                </a:solidFill>
                <a:latin typeface="Calibri"/>
              </a:rPr>
              <a:t>ROADMAP V1.0 — FEBRUARY 2026</a:t>
            </a:r>
          </a:p>
        </p:txBody>
      </p:sp>
      <p:sp>
        <p:nvSpPr>
          <p:cNvPr id="4" name="TextBox 3"/>
          <p:cNvSpPr txBox="1"/>
          <p:nvPr/>
        </p:nvSpPr>
        <p:spPr>
          <a:xfrm>
            <a:off x="548640" y="658368"/>
            <a:ext cx="10972800" cy="822960"/>
          </a:xfrm>
          <a:prstGeom prst="rect">
            <a:avLst/>
          </a:prstGeom>
          <a:noFill/>
        </p:spPr>
        <p:txBody>
          <a:bodyPr wrap="square" anchor="t">
            <a:spAutoFit/>
          </a:bodyPr>
          <a:lstStyle/>
          <a:p>
            <a:pPr algn="l"/>
            <a:r>
              <a:rPr sz="3000" b="1" i="0">
                <a:solidFill>
                  <a:srgbClr val="1E2A38"/>
                </a:solidFill>
                <a:latin typeface="Calibri"/>
              </a:rPr>
              <a:t>The Original Plan</a:t>
            </a:r>
          </a:p>
        </p:txBody>
      </p:sp>
      <p:sp>
        <p:nvSpPr>
          <p:cNvPr id="5" name="TextBox 4"/>
          <p:cNvSpPr txBox="1"/>
          <p:nvPr/>
        </p:nvSpPr>
        <p:spPr>
          <a:xfrm>
            <a:off x="731520" y="1828800"/>
            <a:ext cx="10698480" cy="4572000"/>
          </a:xfrm>
          <a:prstGeom prst="rect">
            <a:avLst/>
          </a:prstGeom>
          <a:noFill/>
        </p:spPr>
        <p:txBody>
          <a:bodyPr wrap="square">
            <a:spAutoFit/>
          </a:bodyPr>
          <a:lstStyle/>
          <a:p>
            <a:pPr>
              <a:spcAft>
                <a:spcPts val="1116"/>
              </a:spcAft>
            </a:pPr>
            <a:r>
              <a:rPr sz="1800" b="1">
                <a:solidFill>
                  <a:srgbClr val="1E2A38"/>
                </a:solidFill>
                <a:latin typeface="Calibri"/>
              </a:rPr>
              <a:t>•   One unified Django + React platform to replace Excel, phone calls and WhatsApp across the whole value chain.</a:t>
            </a:r>
          </a:p>
          <a:p>
            <a:pPr>
              <a:spcAft>
                <a:spcPts val="1116"/>
              </a:spcAft>
            </a:pPr>
            <a:r>
              <a:rPr sz="1800" b="0">
                <a:solidFill>
                  <a:srgbClr val="1E2A38"/>
                </a:solidFill>
                <a:latin typeface="Calibri"/>
              </a:rPr>
              <a:t>•   Five interconnected projects:</a:t>
            </a:r>
          </a:p>
          <a:p>
            <a:pPr lvl="1">
              <a:spcAft>
                <a:spcPts val="1116"/>
              </a:spcAft>
            </a:pPr>
            <a:r>
              <a:rPr sz="1600" b="0">
                <a:solidFill>
                  <a:srgbClr val="6B7280"/>
                </a:solidFill>
                <a:latin typeface="Calibri"/>
              </a:rPr>
              <a:t>–   P1 Greenhouse  ·  P2 Transport  ·  P3 Export  ·  P4 Contracts  ·  P5 Finance</a:t>
            </a:r>
          </a:p>
          <a:p>
            <a:pPr>
              <a:spcAft>
                <a:spcPts val="1116"/>
              </a:spcAft>
            </a:pPr>
            <a:r>
              <a:rPr sz="1800" b="0">
                <a:solidFill>
                  <a:srgbClr val="1E2A38"/>
                </a:solidFill>
                <a:latin typeface="Calibri"/>
              </a:rPr>
              <a:t>•   Planned timeline: 12 months.</a:t>
            </a:r>
          </a:p>
          <a:p>
            <a:pPr>
              <a:spcAft>
                <a:spcPts val="1116"/>
              </a:spcAft>
            </a:pPr>
            <a:r>
              <a:rPr sz="1800" b="0">
                <a:solidFill>
                  <a:srgbClr val="1E2A38"/>
                </a:solidFill>
                <a:latin typeface="Calibri"/>
              </a:rPr>
              <a:t>•   Planned team (per roadmap): 2–3 developers + 1 data analyst + 0.5 QA.</a:t>
            </a:r>
          </a:p>
          <a:p>
            <a:pPr>
              <a:spcAft>
                <a:spcPts val="1116"/>
              </a:spcAft>
            </a:pPr>
            <a:r>
              <a:rPr sz="1800" b="0">
                <a:solidFill>
                  <a:srgbClr val="1E2A38"/>
                </a:solidFill>
                <a:latin typeface="Calibri"/>
              </a:rPr>
              <a:t>•   Defined priority order: P3 Export first — highest operational pain, most data available, every other project depends on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822960"/>
          </a:xfrm>
          <a:prstGeom prst="rect">
            <a:avLst/>
          </a:prstGeom>
          <a:noFill/>
        </p:spPr>
        <p:txBody>
          <a:bodyPr wrap="square" anchor="t">
            <a:spAutoFit/>
          </a:bodyPr>
          <a:lstStyle/>
          <a:p>
            <a:pPr algn="l"/>
            <a:r>
              <a:rPr sz="3000" b="1" i="0">
                <a:solidFill>
                  <a:srgbClr val="1E2A38"/>
                </a:solidFill>
                <a:latin typeface="Calibri"/>
              </a:rPr>
              <a:t>Time &amp; Resources — Plan vs. Reality</a:t>
            </a:r>
          </a:p>
        </p:txBody>
      </p:sp>
      <p:graphicFrame>
        <p:nvGraphicFramePr>
          <p:cNvPr id="4" name="Table 3"/>
          <p:cNvGraphicFramePr>
            <a:graphicFrameLocks noGrp="1"/>
          </p:cNvGraphicFramePr>
          <p:nvPr/>
        </p:nvGraphicFramePr>
        <p:xfrm>
          <a:off x="640080" y="1737360"/>
          <a:ext cx="10972800" cy="219456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48640">
                <a:tc>
                  <a:txBody>
                    <a:bodyPr/>
                    <a:lstStyle/>
                    <a:p>
                      <a:endParaRPr/>
                    </a:p>
                  </a:txBody>
                  <a:tcPr>
                    <a:solidFill>
                      <a:srgbClr val="1E2A38"/>
                    </a:solidFill>
                  </a:tcPr>
                </a:tc>
                <a:tc>
                  <a:txBody>
                    <a:bodyPr/>
                    <a:lstStyle/>
                    <a:p>
                      <a:r>
                        <a:rPr sz="1500" b="1">
                          <a:solidFill>
                            <a:srgbClr val="FFFFFF"/>
                          </a:solidFill>
                          <a:latin typeface="Calibri"/>
                        </a:rPr>
                        <a:t>Planned (roadmap)</a:t>
                      </a:r>
                    </a:p>
                  </a:txBody>
                  <a:tcPr>
                    <a:solidFill>
                      <a:srgbClr val="1E2A38"/>
                    </a:solidFill>
                  </a:tcPr>
                </a:tc>
                <a:tc>
                  <a:txBody>
                    <a:bodyPr/>
                    <a:lstStyle/>
                    <a:p>
                      <a:r>
                        <a:rPr sz="1500" b="1">
                          <a:solidFill>
                            <a:srgbClr val="FFFFFF"/>
                          </a:solidFill>
                          <a:latin typeface="Calibri"/>
                        </a:rPr>
                        <a:t>Actual</a:t>
                      </a:r>
                    </a:p>
                  </a:txBody>
                  <a:tcPr>
                    <a:solidFill>
                      <a:srgbClr val="1E2A38"/>
                    </a:solidFill>
                  </a:tcPr>
                </a:tc>
                <a:extLst>
                  <a:ext uri="{0D108BD9-81ED-4DB2-BD59-A6C34878D82A}">
                    <a16:rowId xmlns:a16="http://schemas.microsoft.com/office/drawing/2014/main" val="10000"/>
                  </a:ext>
                </a:extLst>
              </a:tr>
              <a:tr h="548640">
                <a:tc>
                  <a:txBody>
                    <a:bodyPr/>
                    <a:lstStyle/>
                    <a:p>
                      <a:r>
                        <a:rPr sz="1500" b="1">
                          <a:solidFill>
                            <a:srgbClr val="1E2A38"/>
                          </a:solidFill>
                          <a:latin typeface="Calibri"/>
                        </a:rPr>
                        <a:t>Team</a:t>
                      </a:r>
                    </a:p>
                  </a:txBody>
                  <a:tcPr>
                    <a:solidFill>
                      <a:srgbClr val="FFFFFF"/>
                    </a:solidFill>
                  </a:tcPr>
                </a:tc>
                <a:tc>
                  <a:txBody>
                    <a:bodyPr/>
                    <a:lstStyle/>
                    <a:p>
                      <a:r>
                        <a:rPr sz="1500" b="0">
                          <a:solidFill>
                            <a:srgbClr val="1E2A38"/>
                          </a:solidFill>
                          <a:latin typeface="Calibri"/>
                        </a:rPr>
                        <a:t>2–3 developers + analyst + QA</a:t>
                      </a:r>
                    </a:p>
                  </a:txBody>
                  <a:tcPr>
                    <a:solidFill>
                      <a:srgbClr val="FFFFFF"/>
                    </a:solidFill>
                  </a:tcPr>
                </a:tc>
                <a:tc>
                  <a:txBody>
                    <a:bodyPr/>
                    <a:lstStyle/>
                    <a:p>
                      <a:r>
                        <a:rPr sz="1500" b="0">
                          <a:solidFill>
                            <a:srgbClr val="2E7D32"/>
                          </a:solidFill>
                          <a:latin typeface="Calibri"/>
                        </a:rPr>
                        <a:t>1 developer + AI</a:t>
                      </a:r>
                    </a:p>
                  </a:txBody>
                  <a:tcPr>
                    <a:solidFill>
                      <a:srgbClr val="FFFFFF"/>
                    </a:solidFill>
                  </a:tcPr>
                </a:tc>
                <a:extLst>
                  <a:ext uri="{0D108BD9-81ED-4DB2-BD59-A6C34878D82A}">
                    <a16:rowId xmlns:a16="http://schemas.microsoft.com/office/drawing/2014/main" val="10001"/>
                  </a:ext>
                </a:extLst>
              </a:tr>
              <a:tr h="548640">
                <a:tc>
                  <a:txBody>
                    <a:bodyPr/>
                    <a:lstStyle/>
                    <a:p>
                      <a:r>
                        <a:rPr sz="1500" b="1">
                          <a:solidFill>
                            <a:srgbClr val="1E2A38"/>
                          </a:solidFill>
                          <a:latin typeface="Calibri"/>
                        </a:rPr>
                        <a:t>Timeline</a:t>
                      </a:r>
                    </a:p>
                  </a:txBody>
                  <a:tcPr>
                    <a:solidFill>
                      <a:srgbClr val="F1F4F7"/>
                    </a:solidFill>
                  </a:tcPr>
                </a:tc>
                <a:tc>
                  <a:txBody>
                    <a:bodyPr/>
                    <a:lstStyle/>
                    <a:p>
                      <a:r>
                        <a:rPr sz="1500" b="0">
                          <a:solidFill>
                            <a:srgbClr val="1E2A38"/>
                          </a:solidFill>
                          <a:latin typeface="Calibri"/>
                        </a:rPr>
                        <a:t>12 months</a:t>
                      </a:r>
                    </a:p>
                  </a:txBody>
                  <a:tcPr>
                    <a:solidFill>
                      <a:srgbClr val="F1F4F7"/>
                    </a:solidFill>
                  </a:tcPr>
                </a:tc>
                <a:tc>
                  <a:txBody>
                    <a:bodyPr/>
                    <a:lstStyle/>
                    <a:p>
                      <a:r>
                        <a:rPr sz="1500" b="0">
                          <a:solidFill>
                            <a:srgbClr val="2E7D32"/>
                          </a:solidFill>
                          <a:latin typeface="Calibri"/>
                        </a:rPr>
                        <a:t>~4 months so far</a:t>
                      </a:r>
                    </a:p>
                  </a:txBody>
                  <a:tcPr>
                    <a:solidFill>
                      <a:srgbClr val="F1F4F7"/>
                    </a:solidFill>
                  </a:tcPr>
                </a:tc>
                <a:extLst>
                  <a:ext uri="{0D108BD9-81ED-4DB2-BD59-A6C34878D82A}">
                    <a16:rowId xmlns:a16="http://schemas.microsoft.com/office/drawing/2014/main" val="10002"/>
                  </a:ext>
                </a:extLst>
              </a:tr>
              <a:tr h="548640">
                <a:tc>
                  <a:txBody>
                    <a:bodyPr/>
                    <a:lstStyle/>
                    <a:p>
                      <a:r>
                        <a:rPr sz="1500" b="1">
                          <a:solidFill>
                            <a:srgbClr val="1E2A38"/>
                          </a:solidFill>
                          <a:latin typeface="Calibri"/>
                        </a:rPr>
                        <a:t>Discovery / planning</a:t>
                      </a:r>
                    </a:p>
                  </a:txBody>
                  <a:tcPr>
                    <a:solidFill>
                      <a:srgbClr val="FFFFFF"/>
                    </a:solidFill>
                  </a:tcPr>
                </a:tc>
                <a:tc>
                  <a:txBody>
                    <a:bodyPr/>
                    <a:lstStyle/>
                    <a:p>
                      <a:r>
                        <a:rPr sz="1500" b="0">
                          <a:solidFill>
                            <a:srgbClr val="1E2A38"/>
                          </a:solidFill>
                          <a:latin typeface="Calibri"/>
                        </a:rPr>
                        <a:t>Interviews + analysis up front</a:t>
                      </a:r>
                    </a:p>
                  </a:txBody>
                  <a:tcPr>
                    <a:solidFill>
                      <a:srgbClr val="FFFFFF"/>
                    </a:solidFill>
                  </a:tcPr>
                </a:tc>
                <a:tc>
                  <a:txBody>
                    <a:bodyPr/>
                    <a:lstStyle/>
                    <a:p>
                      <a:r>
                        <a:rPr sz="1500" b="0">
                          <a:solidFill>
                            <a:srgbClr val="2E7D32"/>
                          </a:solidFill>
                          <a:latin typeface="Calibri"/>
                        </a:rPr>
                        <a:t>Compressed — coding began mid-March</a:t>
                      </a:r>
                    </a:p>
                  </a:txBody>
                  <a:tcP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40080" y="4297680"/>
            <a:ext cx="10972800" cy="411480"/>
          </a:xfrm>
          <a:prstGeom prst="rect">
            <a:avLst/>
          </a:prstGeom>
          <a:noFill/>
        </p:spPr>
        <p:txBody>
          <a:bodyPr wrap="square" anchor="t">
            <a:spAutoFit/>
          </a:bodyPr>
          <a:lstStyle/>
          <a:p>
            <a:pPr algn="l"/>
            <a:r>
              <a:rPr sz="1500" b="1" i="0">
                <a:solidFill>
                  <a:srgbClr val="E07A3F"/>
                </a:solidFill>
                <a:latin typeface="Calibri"/>
              </a:rPr>
              <a:t>Timeline</a:t>
            </a:r>
          </a:p>
        </p:txBody>
      </p:sp>
      <p:sp>
        <p:nvSpPr>
          <p:cNvPr id="6" name="TextBox 5"/>
          <p:cNvSpPr txBox="1"/>
          <p:nvPr/>
        </p:nvSpPr>
        <p:spPr>
          <a:xfrm>
            <a:off x="731520" y="4663440"/>
            <a:ext cx="10698480" cy="1737360"/>
          </a:xfrm>
          <a:prstGeom prst="rect">
            <a:avLst/>
          </a:prstGeom>
          <a:noFill/>
        </p:spPr>
        <p:txBody>
          <a:bodyPr wrap="square">
            <a:spAutoFit/>
          </a:bodyPr>
          <a:lstStyle/>
          <a:p>
            <a:pPr>
              <a:spcAft>
                <a:spcPts val="900"/>
              </a:spcAft>
            </a:pPr>
            <a:r>
              <a:rPr sz="1500" b="1">
                <a:solidFill>
                  <a:srgbClr val="1E2A38"/>
                </a:solidFill>
                <a:latin typeface="Calibri"/>
              </a:rPr>
              <a:t>•   Late February 2026 — planning started.</a:t>
            </a:r>
          </a:p>
          <a:p>
            <a:pPr>
              <a:spcAft>
                <a:spcPts val="900"/>
              </a:spcAft>
            </a:pPr>
            <a:r>
              <a:rPr sz="1500" b="0">
                <a:solidFill>
                  <a:srgbClr val="1E2A38"/>
                </a:solidFill>
                <a:latin typeface="Calibri"/>
              </a:rPr>
              <a:t>•   Mid-March 2026 — coding started (the learn-the-business / discovery window was very short).</a:t>
            </a:r>
          </a:p>
          <a:p>
            <a:pPr>
              <a:spcAft>
                <a:spcPts val="900"/>
              </a:spcAft>
            </a:pPr>
            <a:r>
              <a:rPr sz="1500" b="0">
                <a:solidFill>
                  <a:srgbClr val="1E2A38"/>
                </a:solidFill>
                <a:latin typeface="Calibri"/>
              </a:rPr>
              <a:t>•   End May – early June 2026 — first results reviewed.  →  roughly 3.5–4 months of actual build.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822960"/>
            <a:ext cx="10058400" cy="365760"/>
          </a:xfrm>
          <a:prstGeom prst="rect">
            <a:avLst/>
          </a:prstGeom>
          <a:noFill/>
        </p:spPr>
        <p:txBody>
          <a:bodyPr wrap="square" anchor="t">
            <a:spAutoFit/>
          </a:bodyPr>
          <a:lstStyle/>
          <a:p>
            <a:pPr algn="l"/>
            <a:r>
              <a:rPr sz="1400" b="1" i="0">
                <a:solidFill>
                  <a:srgbClr val="E07A3F"/>
                </a:solidFill>
                <a:latin typeface="Calibri"/>
              </a:rPr>
              <a:t>DELIVERED IN ~4 MONTHS</a:t>
            </a:r>
          </a:p>
        </p:txBody>
      </p:sp>
      <p:sp>
        <p:nvSpPr>
          <p:cNvPr id="5" name="TextBox 4"/>
          <p:cNvSpPr txBox="1"/>
          <p:nvPr/>
        </p:nvSpPr>
        <p:spPr>
          <a:xfrm>
            <a:off x="731520" y="1554480"/>
            <a:ext cx="5486400" cy="1828800"/>
          </a:xfrm>
          <a:prstGeom prst="rect">
            <a:avLst/>
          </a:prstGeom>
          <a:noFill/>
        </p:spPr>
        <p:txBody>
          <a:bodyPr wrap="square" anchor="t">
            <a:spAutoFit/>
          </a:bodyPr>
          <a:lstStyle/>
          <a:p>
            <a:pPr algn="l"/>
            <a:r>
              <a:rPr sz="11000" b="1" i="0">
                <a:solidFill>
                  <a:srgbClr val="FFFFFF"/>
                </a:solidFill>
                <a:latin typeface="Calibri"/>
              </a:rPr>
              <a:t>~40%</a:t>
            </a:r>
          </a:p>
        </p:txBody>
      </p:sp>
      <p:sp>
        <p:nvSpPr>
          <p:cNvPr id="6" name="TextBox 5"/>
          <p:cNvSpPr txBox="1"/>
          <p:nvPr/>
        </p:nvSpPr>
        <p:spPr>
          <a:xfrm>
            <a:off x="731520" y="3566160"/>
            <a:ext cx="10515600" cy="640080"/>
          </a:xfrm>
          <a:prstGeom prst="rect">
            <a:avLst/>
          </a:prstGeom>
          <a:noFill/>
        </p:spPr>
        <p:txBody>
          <a:bodyPr wrap="square" anchor="t">
            <a:spAutoFit/>
          </a:bodyPr>
          <a:lstStyle/>
          <a:p>
            <a:pPr algn="l"/>
            <a:r>
              <a:rPr sz="2400" b="0" i="0">
                <a:solidFill>
                  <a:srgbClr val="C8D0D8"/>
                </a:solidFill>
                <a:latin typeface="Calibri"/>
              </a:rPr>
              <a:t>of the full 12-month, 5-project scope</a:t>
            </a:r>
          </a:p>
        </p:txBody>
      </p:sp>
      <p:sp>
        <p:nvSpPr>
          <p:cNvPr id="7" name="TextBox 6"/>
          <p:cNvSpPr txBox="1"/>
          <p:nvPr/>
        </p:nvSpPr>
        <p:spPr>
          <a:xfrm>
            <a:off x="731520" y="4389120"/>
            <a:ext cx="10698480" cy="2103120"/>
          </a:xfrm>
          <a:prstGeom prst="rect">
            <a:avLst/>
          </a:prstGeom>
          <a:noFill/>
        </p:spPr>
        <p:txBody>
          <a:bodyPr wrap="square">
            <a:spAutoFit/>
          </a:bodyPr>
          <a:lstStyle/>
          <a:p>
            <a:pPr>
              <a:spcAft>
                <a:spcPts val="1000"/>
              </a:spcAft>
            </a:pPr>
            <a:r>
              <a:rPr sz="1700">
                <a:solidFill>
                  <a:srgbClr val="DDE3E9"/>
                </a:solidFill>
                <a:latin typeface="Calibri"/>
              </a:rPr>
              <a:t>•   The highest-priority project — P3 Export — is ~90% complete and in daily production use.</a:t>
            </a:r>
          </a:p>
          <a:p>
            <a:pPr>
              <a:spcAft>
                <a:spcPts val="1000"/>
              </a:spcAft>
            </a:pPr>
            <a:r>
              <a:rPr sz="1700">
                <a:solidFill>
                  <a:srgbClr val="DDE3E9"/>
                </a:solidFill>
                <a:latin typeface="Calibri"/>
              </a:rPr>
              <a:t>•   Delivered solo + AI what the plan budgeted for a 2–3 person team over a longer horizon.</a:t>
            </a:r>
          </a:p>
          <a:p>
            <a:pPr>
              <a:spcAft>
                <a:spcPts val="1000"/>
              </a:spcAft>
            </a:pPr>
            <a:r>
              <a:rPr sz="1700">
                <a:solidFill>
                  <a:srgbClr val="DDE3E9"/>
                </a:solidFill>
                <a:latin typeface="Calibri"/>
              </a:rPr>
              <a:t>•   Value is front-loaded exactly as the roadmap intended: highest-pain project first.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822960"/>
          </a:xfrm>
          <a:prstGeom prst="rect">
            <a:avLst/>
          </a:prstGeom>
          <a:noFill/>
        </p:spPr>
        <p:txBody>
          <a:bodyPr wrap="square" anchor="t">
            <a:spAutoFit/>
          </a:bodyPr>
          <a:lstStyle/>
          <a:p>
            <a:pPr algn="l"/>
            <a:r>
              <a:rPr sz="3000" b="1" i="0">
                <a:solidFill>
                  <a:srgbClr val="1E2A38"/>
                </a:solidFill>
                <a:latin typeface="Calibri"/>
              </a:rPr>
              <a:t>Completion by Project</a:t>
            </a:r>
          </a:p>
        </p:txBody>
      </p:sp>
      <p:sp>
        <p:nvSpPr>
          <p:cNvPr id="4" name="TextBox 3"/>
          <p:cNvSpPr txBox="1"/>
          <p:nvPr/>
        </p:nvSpPr>
        <p:spPr>
          <a:xfrm>
            <a:off x="640080" y="1874519"/>
            <a:ext cx="2834640" cy="365760"/>
          </a:xfrm>
          <a:prstGeom prst="rect">
            <a:avLst/>
          </a:prstGeom>
          <a:noFill/>
        </p:spPr>
        <p:txBody>
          <a:bodyPr wrap="square" anchor="t">
            <a:spAutoFit/>
          </a:bodyPr>
          <a:lstStyle/>
          <a:p>
            <a:pPr algn="l"/>
            <a:r>
              <a:rPr sz="1600" b="1" i="0">
                <a:solidFill>
                  <a:srgbClr val="1E2A38"/>
                </a:solidFill>
                <a:latin typeface="Calibri"/>
              </a:rPr>
              <a:t>P3  Export</a:t>
            </a:r>
          </a:p>
        </p:txBody>
      </p:sp>
      <p:sp>
        <p:nvSpPr>
          <p:cNvPr id="5" name="Rounded Rectangle 4"/>
          <p:cNvSpPr/>
          <p:nvPr/>
        </p:nvSpPr>
        <p:spPr>
          <a:xfrm>
            <a:off x="3474720" y="1920239"/>
            <a:ext cx="5486400" cy="310896"/>
          </a:xfrm>
          <a:prstGeom prst="roundRect">
            <a:avLst/>
          </a:prstGeom>
          <a:solidFill>
            <a:srgbClr val="E3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474720" y="1920239"/>
            <a:ext cx="4937760" cy="310896"/>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98280" y="1874519"/>
            <a:ext cx="822960" cy="365760"/>
          </a:xfrm>
          <a:prstGeom prst="rect">
            <a:avLst/>
          </a:prstGeom>
          <a:noFill/>
        </p:spPr>
        <p:txBody>
          <a:bodyPr wrap="square" anchor="t">
            <a:spAutoFit/>
          </a:bodyPr>
          <a:lstStyle/>
          <a:p>
            <a:pPr algn="l"/>
            <a:r>
              <a:rPr sz="1600" b="1" i="0">
                <a:solidFill>
                  <a:srgbClr val="2E7D32"/>
                </a:solidFill>
                <a:latin typeface="Calibri"/>
              </a:rPr>
              <a:t>90%</a:t>
            </a:r>
          </a:p>
        </p:txBody>
      </p:sp>
      <p:sp>
        <p:nvSpPr>
          <p:cNvPr id="8" name="TextBox 7"/>
          <p:cNvSpPr txBox="1"/>
          <p:nvPr/>
        </p:nvSpPr>
        <p:spPr>
          <a:xfrm>
            <a:off x="3474720" y="2295143"/>
            <a:ext cx="7772400" cy="365760"/>
          </a:xfrm>
          <a:prstGeom prst="rect">
            <a:avLst/>
          </a:prstGeom>
          <a:noFill/>
        </p:spPr>
        <p:txBody>
          <a:bodyPr wrap="square" anchor="t">
            <a:spAutoFit/>
          </a:bodyPr>
          <a:lstStyle/>
          <a:p>
            <a:pPr algn="l"/>
            <a:r>
              <a:rPr sz="1150" b="0" i="0">
                <a:solidFill>
                  <a:srgbClr val="6B7280"/>
                </a:solidFill>
                <a:latin typeface="Calibri"/>
              </a:rPr>
              <a:t>Core platform — in production, used daily by 9 roles</a:t>
            </a:r>
          </a:p>
        </p:txBody>
      </p:sp>
      <p:sp>
        <p:nvSpPr>
          <p:cNvPr id="9" name="TextBox 8"/>
          <p:cNvSpPr txBox="1"/>
          <p:nvPr/>
        </p:nvSpPr>
        <p:spPr>
          <a:xfrm>
            <a:off x="640080" y="2743199"/>
            <a:ext cx="2834640" cy="365760"/>
          </a:xfrm>
          <a:prstGeom prst="rect">
            <a:avLst/>
          </a:prstGeom>
          <a:noFill/>
        </p:spPr>
        <p:txBody>
          <a:bodyPr wrap="square" anchor="t">
            <a:spAutoFit/>
          </a:bodyPr>
          <a:lstStyle/>
          <a:p>
            <a:pPr algn="l"/>
            <a:r>
              <a:rPr sz="1600" b="1" i="0">
                <a:solidFill>
                  <a:srgbClr val="1E2A38"/>
                </a:solidFill>
                <a:latin typeface="Calibri"/>
              </a:rPr>
              <a:t>P5  Finance / Executive</a:t>
            </a:r>
          </a:p>
        </p:txBody>
      </p:sp>
      <p:sp>
        <p:nvSpPr>
          <p:cNvPr id="10" name="Rounded Rectangle 9"/>
          <p:cNvSpPr/>
          <p:nvPr/>
        </p:nvSpPr>
        <p:spPr>
          <a:xfrm>
            <a:off x="3474720" y="2788919"/>
            <a:ext cx="5486400" cy="310896"/>
          </a:xfrm>
          <a:prstGeom prst="roundRect">
            <a:avLst/>
          </a:prstGeom>
          <a:solidFill>
            <a:srgbClr val="E3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474720" y="2788919"/>
            <a:ext cx="2194560" cy="310896"/>
          </a:xfrm>
          <a:prstGeom prst="round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98280" y="2743199"/>
            <a:ext cx="822960" cy="365760"/>
          </a:xfrm>
          <a:prstGeom prst="rect">
            <a:avLst/>
          </a:prstGeom>
          <a:noFill/>
        </p:spPr>
        <p:txBody>
          <a:bodyPr wrap="square" anchor="t">
            <a:spAutoFit/>
          </a:bodyPr>
          <a:lstStyle/>
          <a:p>
            <a:pPr algn="l"/>
            <a:r>
              <a:rPr sz="1600" b="1" i="0">
                <a:solidFill>
                  <a:srgbClr val="E07A3F"/>
                </a:solidFill>
                <a:latin typeface="Calibri"/>
              </a:rPr>
              <a:t>40%</a:t>
            </a:r>
          </a:p>
        </p:txBody>
      </p:sp>
      <p:sp>
        <p:nvSpPr>
          <p:cNvPr id="13" name="TextBox 12"/>
          <p:cNvSpPr txBox="1"/>
          <p:nvPr/>
        </p:nvSpPr>
        <p:spPr>
          <a:xfrm>
            <a:off x="3474720" y="3163823"/>
            <a:ext cx="7772400" cy="365760"/>
          </a:xfrm>
          <a:prstGeom prst="rect">
            <a:avLst/>
          </a:prstGeom>
          <a:noFill/>
        </p:spPr>
        <p:txBody>
          <a:bodyPr wrap="square" anchor="t">
            <a:spAutoFit/>
          </a:bodyPr>
          <a:lstStyle/>
          <a:p>
            <a:pPr algn="l"/>
            <a:r>
              <a:rPr sz="1150" b="0" i="0">
                <a:solidFill>
                  <a:srgbClr val="6B7280"/>
                </a:solidFill>
                <a:latin typeface="Calibri"/>
              </a:rPr>
              <a:t>Executive dashboards built; ERP / 1C integration pending</a:t>
            </a:r>
          </a:p>
        </p:txBody>
      </p:sp>
      <p:sp>
        <p:nvSpPr>
          <p:cNvPr id="14" name="TextBox 13"/>
          <p:cNvSpPr txBox="1"/>
          <p:nvPr/>
        </p:nvSpPr>
        <p:spPr>
          <a:xfrm>
            <a:off x="640080" y="3611879"/>
            <a:ext cx="2834640" cy="365760"/>
          </a:xfrm>
          <a:prstGeom prst="rect">
            <a:avLst/>
          </a:prstGeom>
          <a:noFill/>
        </p:spPr>
        <p:txBody>
          <a:bodyPr wrap="square" anchor="t">
            <a:spAutoFit/>
          </a:bodyPr>
          <a:lstStyle/>
          <a:p>
            <a:pPr algn="l"/>
            <a:r>
              <a:rPr sz="1600" b="1" i="0">
                <a:solidFill>
                  <a:srgbClr val="1E2A38"/>
                </a:solidFill>
                <a:latin typeface="Calibri"/>
              </a:rPr>
              <a:t>P4  Contracts</a:t>
            </a:r>
          </a:p>
        </p:txBody>
      </p:sp>
      <p:sp>
        <p:nvSpPr>
          <p:cNvPr id="15" name="Rounded Rectangle 14"/>
          <p:cNvSpPr/>
          <p:nvPr/>
        </p:nvSpPr>
        <p:spPr>
          <a:xfrm>
            <a:off x="3474720" y="3657599"/>
            <a:ext cx="5486400" cy="310896"/>
          </a:xfrm>
          <a:prstGeom prst="roundRect">
            <a:avLst/>
          </a:prstGeom>
          <a:solidFill>
            <a:srgbClr val="E3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474720" y="3657599"/>
            <a:ext cx="1920240" cy="310896"/>
          </a:xfrm>
          <a:prstGeom prst="round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98280" y="3611879"/>
            <a:ext cx="822960" cy="365760"/>
          </a:xfrm>
          <a:prstGeom prst="rect">
            <a:avLst/>
          </a:prstGeom>
          <a:noFill/>
        </p:spPr>
        <p:txBody>
          <a:bodyPr wrap="square" anchor="t">
            <a:spAutoFit/>
          </a:bodyPr>
          <a:lstStyle/>
          <a:p>
            <a:pPr algn="l"/>
            <a:r>
              <a:rPr sz="1600" b="1" i="0">
                <a:solidFill>
                  <a:srgbClr val="E07A3F"/>
                </a:solidFill>
                <a:latin typeface="Calibri"/>
              </a:rPr>
              <a:t>35%</a:t>
            </a:r>
          </a:p>
        </p:txBody>
      </p:sp>
      <p:sp>
        <p:nvSpPr>
          <p:cNvPr id="18" name="TextBox 17"/>
          <p:cNvSpPr txBox="1"/>
          <p:nvPr/>
        </p:nvSpPr>
        <p:spPr>
          <a:xfrm>
            <a:off x="3474720" y="4032503"/>
            <a:ext cx="7772400" cy="365760"/>
          </a:xfrm>
          <a:prstGeom prst="rect">
            <a:avLst/>
          </a:prstGeom>
          <a:noFill/>
        </p:spPr>
        <p:txBody>
          <a:bodyPr wrap="square" anchor="t">
            <a:spAutoFit/>
          </a:bodyPr>
          <a:lstStyle/>
          <a:p>
            <a:pPr algn="l"/>
            <a:r>
              <a:rPr sz="1150" b="0" i="0">
                <a:solidFill>
                  <a:srgbClr val="6B7280"/>
                </a:solidFill>
                <a:latin typeface="Calibri"/>
              </a:rPr>
              <a:t>Contracts + invoices + debt view; document auto-gen pending</a:t>
            </a:r>
          </a:p>
        </p:txBody>
      </p:sp>
      <p:sp>
        <p:nvSpPr>
          <p:cNvPr id="19" name="TextBox 18"/>
          <p:cNvSpPr txBox="1"/>
          <p:nvPr/>
        </p:nvSpPr>
        <p:spPr>
          <a:xfrm>
            <a:off x="640080" y="4480559"/>
            <a:ext cx="2834640" cy="365760"/>
          </a:xfrm>
          <a:prstGeom prst="rect">
            <a:avLst/>
          </a:prstGeom>
          <a:noFill/>
        </p:spPr>
        <p:txBody>
          <a:bodyPr wrap="square" anchor="t">
            <a:spAutoFit/>
          </a:bodyPr>
          <a:lstStyle/>
          <a:p>
            <a:pPr algn="l"/>
            <a:r>
              <a:rPr sz="1600" b="1" i="0">
                <a:solidFill>
                  <a:srgbClr val="1E2A38"/>
                </a:solidFill>
                <a:latin typeface="Calibri"/>
              </a:rPr>
              <a:t>P1  Greenhouse</a:t>
            </a:r>
          </a:p>
        </p:txBody>
      </p:sp>
      <p:sp>
        <p:nvSpPr>
          <p:cNvPr id="20" name="Rounded Rectangle 19"/>
          <p:cNvSpPr/>
          <p:nvPr/>
        </p:nvSpPr>
        <p:spPr>
          <a:xfrm>
            <a:off x="3474720" y="4526279"/>
            <a:ext cx="5486400" cy="310896"/>
          </a:xfrm>
          <a:prstGeom prst="roundRect">
            <a:avLst/>
          </a:prstGeom>
          <a:solidFill>
            <a:srgbClr val="E3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474720" y="4526279"/>
            <a:ext cx="1645920" cy="310896"/>
          </a:xfrm>
          <a:prstGeom prst="round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98280" y="4480559"/>
            <a:ext cx="822960" cy="365760"/>
          </a:xfrm>
          <a:prstGeom prst="rect">
            <a:avLst/>
          </a:prstGeom>
          <a:noFill/>
        </p:spPr>
        <p:txBody>
          <a:bodyPr wrap="square" anchor="t">
            <a:spAutoFit/>
          </a:bodyPr>
          <a:lstStyle/>
          <a:p>
            <a:pPr algn="l"/>
            <a:r>
              <a:rPr sz="1600" b="1" i="0">
                <a:solidFill>
                  <a:srgbClr val="E07A3F"/>
                </a:solidFill>
                <a:latin typeface="Calibri"/>
              </a:rPr>
              <a:t>30%</a:t>
            </a:r>
          </a:p>
        </p:txBody>
      </p:sp>
      <p:sp>
        <p:nvSpPr>
          <p:cNvPr id="23" name="TextBox 22"/>
          <p:cNvSpPr txBox="1"/>
          <p:nvPr/>
        </p:nvSpPr>
        <p:spPr>
          <a:xfrm>
            <a:off x="3474720" y="4901183"/>
            <a:ext cx="7772400" cy="365760"/>
          </a:xfrm>
          <a:prstGeom prst="rect">
            <a:avLst/>
          </a:prstGeom>
          <a:noFill/>
        </p:spPr>
        <p:txBody>
          <a:bodyPr wrap="square" anchor="t">
            <a:spAutoFit/>
          </a:bodyPr>
          <a:lstStyle/>
          <a:p>
            <a:pPr algn="l"/>
            <a:r>
              <a:rPr sz="1150" b="0" i="0">
                <a:solidFill>
                  <a:srgbClr val="6B7280"/>
                </a:solidFill>
                <a:latin typeface="Calibri"/>
              </a:rPr>
              <a:t>Harvest planning + blocks; mobile PWA + analytics pending</a:t>
            </a:r>
          </a:p>
        </p:txBody>
      </p:sp>
      <p:sp>
        <p:nvSpPr>
          <p:cNvPr id="24" name="TextBox 23"/>
          <p:cNvSpPr txBox="1"/>
          <p:nvPr/>
        </p:nvSpPr>
        <p:spPr>
          <a:xfrm>
            <a:off x="640080" y="5349239"/>
            <a:ext cx="2834640" cy="365760"/>
          </a:xfrm>
          <a:prstGeom prst="rect">
            <a:avLst/>
          </a:prstGeom>
          <a:noFill/>
        </p:spPr>
        <p:txBody>
          <a:bodyPr wrap="square" anchor="t">
            <a:spAutoFit/>
          </a:bodyPr>
          <a:lstStyle/>
          <a:p>
            <a:pPr algn="l"/>
            <a:r>
              <a:rPr sz="1600" b="1" i="0">
                <a:solidFill>
                  <a:srgbClr val="1E2A38"/>
                </a:solidFill>
                <a:latin typeface="Calibri"/>
              </a:rPr>
              <a:t>P2  Transport</a:t>
            </a:r>
          </a:p>
        </p:txBody>
      </p:sp>
      <p:sp>
        <p:nvSpPr>
          <p:cNvPr id="25" name="Rounded Rectangle 24"/>
          <p:cNvSpPr/>
          <p:nvPr/>
        </p:nvSpPr>
        <p:spPr>
          <a:xfrm>
            <a:off x="3474720" y="5394959"/>
            <a:ext cx="5486400" cy="310896"/>
          </a:xfrm>
          <a:prstGeom prst="roundRect">
            <a:avLst/>
          </a:prstGeom>
          <a:solidFill>
            <a:srgbClr val="E3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474720" y="5394959"/>
            <a:ext cx="274320" cy="310896"/>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98280" y="5349239"/>
            <a:ext cx="822960" cy="365760"/>
          </a:xfrm>
          <a:prstGeom prst="rect">
            <a:avLst/>
          </a:prstGeom>
          <a:noFill/>
        </p:spPr>
        <p:txBody>
          <a:bodyPr wrap="square" anchor="t">
            <a:spAutoFit/>
          </a:bodyPr>
          <a:lstStyle/>
          <a:p>
            <a:pPr algn="l"/>
            <a:r>
              <a:rPr sz="1600" b="1" i="0">
                <a:solidFill>
                  <a:srgbClr val="C0392B"/>
                </a:solidFill>
                <a:latin typeface="Calibri"/>
              </a:rPr>
              <a:t>5%</a:t>
            </a:r>
          </a:p>
        </p:txBody>
      </p:sp>
      <p:sp>
        <p:nvSpPr>
          <p:cNvPr id="28" name="TextBox 27"/>
          <p:cNvSpPr txBox="1"/>
          <p:nvPr/>
        </p:nvSpPr>
        <p:spPr>
          <a:xfrm>
            <a:off x="3474720" y="5769863"/>
            <a:ext cx="7772400" cy="365760"/>
          </a:xfrm>
          <a:prstGeom prst="rect">
            <a:avLst/>
          </a:prstGeom>
          <a:noFill/>
        </p:spPr>
        <p:txBody>
          <a:bodyPr wrap="square" anchor="t">
            <a:spAutoFit/>
          </a:bodyPr>
          <a:lstStyle/>
          <a:p>
            <a:pPr algn="l"/>
            <a:r>
              <a:rPr sz="1150" b="0" i="0">
                <a:solidFill>
                  <a:srgbClr val="6B7280"/>
                </a:solidFill>
                <a:latin typeface="Calibri"/>
              </a:rPr>
              <a:t>Not started — fleet registry / GPS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058400" cy="365760"/>
          </a:xfrm>
          <a:prstGeom prst="rect">
            <a:avLst/>
          </a:prstGeom>
          <a:noFill/>
        </p:spPr>
        <p:txBody>
          <a:bodyPr wrap="square" anchor="t">
            <a:spAutoFit/>
          </a:bodyPr>
          <a:lstStyle/>
          <a:p>
            <a:pPr algn="l"/>
            <a:r>
              <a:rPr sz="1200" b="1" i="0">
                <a:solidFill>
                  <a:srgbClr val="E07A3F"/>
                </a:solidFill>
                <a:latin typeface="Calibri"/>
              </a:rPr>
              <a:t>NOT IN THE ORIGINAL PLAN</a:t>
            </a:r>
          </a:p>
        </p:txBody>
      </p:sp>
      <p:sp>
        <p:nvSpPr>
          <p:cNvPr id="4" name="TextBox 3"/>
          <p:cNvSpPr txBox="1"/>
          <p:nvPr/>
        </p:nvSpPr>
        <p:spPr>
          <a:xfrm>
            <a:off x="548640" y="658368"/>
            <a:ext cx="10972800" cy="822960"/>
          </a:xfrm>
          <a:prstGeom prst="rect">
            <a:avLst/>
          </a:prstGeom>
          <a:noFill/>
        </p:spPr>
        <p:txBody>
          <a:bodyPr wrap="square" anchor="t">
            <a:spAutoFit/>
          </a:bodyPr>
          <a:lstStyle/>
          <a:p>
            <a:pPr algn="l"/>
            <a:r>
              <a:rPr sz="3000" b="1" i="0">
                <a:solidFill>
                  <a:srgbClr val="1E2A38"/>
                </a:solidFill>
                <a:latin typeface="Calibri"/>
              </a:rPr>
              <a:t>Scope Added During the Project</a:t>
            </a:r>
          </a:p>
        </p:txBody>
      </p:sp>
      <p:sp>
        <p:nvSpPr>
          <p:cNvPr id="5" name="TextBox 4"/>
          <p:cNvSpPr txBox="1"/>
          <p:nvPr/>
        </p:nvSpPr>
        <p:spPr>
          <a:xfrm>
            <a:off x="731520" y="1783080"/>
            <a:ext cx="10698480" cy="2516073"/>
          </a:xfrm>
          <a:prstGeom prst="rect">
            <a:avLst/>
          </a:prstGeom>
          <a:noFill/>
        </p:spPr>
        <p:txBody>
          <a:bodyPr wrap="square">
            <a:spAutoFit/>
          </a:bodyPr>
          <a:lstStyle/>
          <a:p>
            <a:pPr>
              <a:spcAft>
                <a:spcPts val="900"/>
              </a:spcAft>
            </a:pPr>
            <a:r>
              <a:rPr sz="2000" b="1" dirty="0">
                <a:solidFill>
                  <a:srgbClr val="1E2A38"/>
                </a:solidFill>
                <a:latin typeface="Calibri"/>
              </a:rPr>
              <a:t>•   Kanban boards + Tasks — requested by management mid-project.</a:t>
            </a:r>
          </a:p>
          <a:p>
            <a:pPr>
              <a:spcAft>
                <a:spcPts val="900"/>
              </a:spcAft>
            </a:pPr>
            <a:r>
              <a:rPr sz="2000" b="0" dirty="0">
                <a:solidFill>
                  <a:srgbClr val="1E2A38"/>
                </a:solidFill>
                <a:latin typeface="Calibri"/>
              </a:rPr>
              <a:t>•   "Sheet" — a Google-Sheets-style grid, built to win real user adoption (next slide).</a:t>
            </a:r>
          </a:p>
          <a:p>
            <a:pPr>
              <a:spcAft>
                <a:spcPts val="900"/>
              </a:spcAft>
            </a:pPr>
            <a:r>
              <a:rPr sz="2000" b="0" dirty="0">
                <a:solidFill>
                  <a:srgbClr val="1E2A38"/>
                </a:solidFill>
                <a:latin typeface="Calibri"/>
              </a:rPr>
              <a:t>•   "My Tasks" personal board for each role's daily work.</a:t>
            </a:r>
          </a:p>
          <a:p>
            <a:pPr>
              <a:spcAft>
                <a:spcPts val="900"/>
              </a:spcAft>
            </a:pPr>
            <a:r>
              <a:rPr sz="2000" b="0" dirty="0">
                <a:solidFill>
                  <a:srgbClr val="1E2A38"/>
                </a:solidFill>
                <a:latin typeface="Calibri"/>
              </a:rPr>
              <a:t>•   Feedback module + Worklog / time tracking.</a:t>
            </a:r>
          </a:p>
          <a:p>
            <a:pPr>
              <a:spcAft>
                <a:spcPts val="900"/>
              </a:spcAft>
            </a:pPr>
            <a:r>
              <a:rPr sz="2000" b="0" dirty="0">
                <a:solidFill>
                  <a:srgbClr val="1E2A38"/>
                </a:solidFill>
                <a:latin typeface="Calibri"/>
              </a:rPr>
              <a:t>•   Configurable role &amp; field permissions + delegated user management.</a:t>
            </a:r>
          </a:p>
          <a:p>
            <a:pPr>
              <a:spcAft>
                <a:spcPts val="900"/>
              </a:spcAft>
            </a:pPr>
            <a:r>
              <a:rPr sz="2000" b="0" i="1" dirty="0">
                <a:solidFill>
                  <a:srgbClr val="1E2A38"/>
                </a:solidFill>
                <a:latin typeface="Calibri"/>
              </a:rPr>
              <a:t>•   Error tracking (Sentry) and a full audit log.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058400" cy="365760"/>
          </a:xfrm>
          <a:prstGeom prst="rect">
            <a:avLst/>
          </a:prstGeom>
          <a:noFill/>
        </p:spPr>
        <p:txBody>
          <a:bodyPr wrap="square" anchor="t">
            <a:spAutoFit/>
          </a:bodyPr>
          <a:lstStyle/>
          <a:p>
            <a:pPr algn="l"/>
            <a:r>
              <a:rPr sz="1200" b="1" i="0">
                <a:solidFill>
                  <a:srgbClr val="E07A3F"/>
                </a:solidFill>
                <a:latin typeface="Calibri"/>
              </a:rPr>
              <a:t>SOLVING THE #1 PROJECT RISK: USER ADOPTION</a:t>
            </a:r>
          </a:p>
        </p:txBody>
      </p:sp>
      <p:sp>
        <p:nvSpPr>
          <p:cNvPr id="4" name="TextBox 3"/>
          <p:cNvSpPr txBox="1"/>
          <p:nvPr/>
        </p:nvSpPr>
        <p:spPr>
          <a:xfrm>
            <a:off x="548640" y="658368"/>
            <a:ext cx="10972800" cy="822960"/>
          </a:xfrm>
          <a:prstGeom prst="rect">
            <a:avLst/>
          </a:prstGeom>
          <a:noFill/>
        </p:spPr>
        <p:txBody>
          <a:bodyPr wrap="square" anchor="t">
            <a:spAutoFit/>
          </a:bodyPr>
          <a:lstStyle/>
          <a:p>
            <a:pPr algn="l"/>
            <a:r>
              <a:rPr sz="3000" b="1" i="0">
                <a:solidFill>
                  <a:srgbClr val="1E2A38"/>
                </a:solidFill>
                <a:latin typeface="Calibri"/>
              </a:rPr>
              <a:t>Why the Spreadsheet View</a:t>
            </a:r>
          </a:p>
        </p:txBody>
      </p:sp>
      <p:sp>
        <p:nvSpPr>
          <p:cNvPr id="5" name="TextBox 4"/>
          <p:cNvSpPr txBox="1"/>
          <p:nvPr/>
        </p:nvSpPr>
        <p:spPr>
          <a:xfrm>
            <a:off x="731520" y="1828800"/>
            <a:ext cx="10698480" cy="4572000"/>
          </a:xfrm>
          <a:prstGeom prst="rect">
            <a:avLst/>
          </a:prstGeom>
          <a:noFill/>
        </p:spPr>
        <p:txBody>
          <a:bodyPr wrap="square">
            <a:spAutoFit/>
          </a:bodyPr>
          <a:lstStyle/>
          <a:p>
            <a:pPr>
              <a:spcAft>
                <a:spcPts val="1116"/>
              </a:spcAft>
            </a:pPr>
            <a:r>
              <a:rPr sz="1700" b="1">
                <a:solidFill>
                  <a:srgbClr val="1E2A38"/>
                </a:solidFill>
                <a:latin typeface="Calibri"/>
              </a:rPr>
              <a:t>•   The roadmap flagged "user resistance" as the highest-likelihood risk.</a:t>
            </a:r>
          </a:p>
          <a:p>
            <a:pPr>
              <a:spcAft>
                <a:spcPts val="1116"/>
              </a:spcAft>
            </a:pPr>
            <a:r>
              <a:rPr sz="1700" b="0">
                <a:solidFill>
                  <a:srgbClr val="1E2A38"/>
                </a:solidFill>
                <a:latin typeface="Calibri"/>
              </a:rPr>
              <a:t>•   Employees were clear: they would not move off their familiar spreadsheets.</a:t>
            </a:r>
          </a:p>
          <a:p>
            <a:pPr>
              <a:spcAft>
                <a:spcPts val="1116"/>
              </a:spcAft>
            </a:pPr>
            <a:r>
              <a:rPr sz="1700" b="0">
                <a:solidFill>
                  <a:srgbClr val="1E2A38"/>
                </a:solidFill>
                <a:latin typeface="Calibri"/>
              </a:rPr>
              <a:t>•   Solution: build a spreadsheet-style interface — the platform feels familiar, but the data is now connected, validated and real-time.</a:t>
            </a:r>
          </a:p>
          <a:p>
            <a:pPr>
              <a:spcAft>
                <a:spcPts val="1116"/>
              </a:spcAft>
            </a:pPr>
            <a:r>
              <a:rPr sz="1700" b="0">
                <a:solidFill>
                  <a:srgbClr val="1E2A38"/>
                </a:solidFill>
                <a:latin typeface="Calibri"/>
              </a:rPr>
              <a:t>•   Same way of working the team already knows — with the control a single source of truth gives.</a:t>
            </a:r>
          </a:p>
          <a:p>
            <a:pPr>
              <a:spcAft>
                <a:spcPts val="1116"/>
              </a:spcAft>
            </a:pPr>
            <a:r>
              <a:rPr sz="1700" b="0">
                <a:solidFill>
                  <a:srgbClr val="1E2A38"/>
                </a:solidFill>
                <a:latin typeface="Calibri"/>
              </a:rPr>
              <a:t>•   This is an adoption strategy, not a rebuild of Excel: behind the grid sits the full lifecycle, permissions, quota and reporting engine.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2468880"/>
            <a:ext cx="2194560" cy="914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743200"/>
            <a:ext cx="10515600" cy="1280160"/>
          </a:xfrm>
          <a:prstGeom prst="rect">
            <a:avLst/>
          </a:prstGeom>
          <a:noFill/>
        </p:spPr>
        <p:txBody>
          <a:bodyPr wrap="square" anchor="t">
            <a:spAutoFit/>
          </a:bodyPr>
          <a:lstStyle/>
          <a:p>
            <a:pPr algn="l"/>
            <a:r>
              <a:rPr sz="4000" b="1" i="0">
                <a:solidFill>
                  <a:srgbClr val="FFFFFF"/>
                </a:solidFill>
                <a:latin typeface="Calibri"/>
              </a:rPr>
              <a:t>The Export Process, End to End</a:t>
            </a:r>
          </a:p>
        </p:txBody>
      </p:sp>
      <p:sp>
        <p:nvSpPr>
          <p:cNvPr id="5" name="TextBox 4"/>
          <p:cNvSpPr txBox="1"/>
          <p:nvPr/>
        </p:nvSpPr>
        <p:spPr>
          <a:xfrm>
            <a:off x="731520" y="4114800"/>
            <a:ext cx="10515600" cy="914400"/>
          </a:xfrm>
          <a:prstGeom prst="rect">
            <a:avLst/>
          </a:prstGeom>
          <a:noFill/>
        </p:spPr>
        <p:txBody>
          <a:bodyPr wrap="square" anchor="t">
            <a:spAutoFit/>
          </a:bodyPr>
          <a:lstStyle/>
          <a:p>
            <a:pPr algn="l"/>
            <a:r>
              <a:rPr sz="1800" b="0" i="1">
                <a:solidFill>
                  <a:srgbClr val="C8D0D8"/>
                </a:solidFill>
                <a:latin typeface="Calibri"/>
              </a:rPr>
              <a:t>The operational role views — what the 9 daily users actually see (distinct from the admin configuration view).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822960"/>
          </a:xfrm>
          <a:prstGeom prst="rect">
            <a:avLst/>
          </a:prstGeom>
          <a:noFill/>
        </p:spPr>
        <p:txBody>
          <a:bodyPr wrap="square" anchor="t">
            <a:spAutoFit/>
          </a:bodyPr>
          <a:lstStyle/>
          <a:p>
            <a:pPr algn="l"/>
            <a:r>
              <a:rPr sz="3000" b="1" i="0">
                <a:solidFill>
                  <a:srgbClr val="1E2A38"/>
                </a:solidFill>
                <a:latin typeface="Calibri"/>
              </a:rPr>
              <a:t>Dashboard</a:t>
            </a:r>
          </a:p>
        </p:txBody>
      </p:sp>
      <p:sp>
        <p:nvSpPr>
          <p:cNvPr id="4" name="TextBox 3"/>
          <p:cNvSpPr txBox="1"/>
          <p:nvPr/>
        </p:nvSpPr>
        <p:spPr>
          <a:xfrm>
            <a:off x="640080" y="1417320"/>
            <a:ext cx="10972800" cy="822960"/>
          </a:xfrm>
          <a:prstGeom prst="rect">
            <a:avLst/>
          </a:prstGeom>
          <a:noFill/>
        </p:spPr>
        <p:txBody>
          <a:bodyPr wrap="square" anchor="t">
            <a:spAutoFit/>
          </a:bodyPr>
          <a:lstStyle/>
          <a:p>
            <a:pPr algn="l"/>
            <a:r>
              <a:rPr sz="1500" b="0" i="0">
                <a:solidFill>
                  <a:srgbClr val="6B7280"/>
                </a:solidFill>
                <a:latin typeface="Calibri"/>
              </a:rPr>
              <a:t>Daily landing page for every role — key stats, alerts (missing reports, quota, document queue), active shipments and routes.</a:t>
            </a:r>
          </a:p>
        </p:txBody>
      </p:sp>
      <p:sp>
        <p:nvSpPr>
          <p:cNvPr id="5" name="Rounded Rectangle 4"/>
          <p:cNvSpPr/>
          <p:nvPr/>
        </p:nvSpPr>
        <p:spPr>
          <a:xfrm>
            <a:off x="822960" y="2331720"/>
            <a:ext cx="10515600" cy="4023360"/>
          </a:xfrm>
          <a:prstGeom prst="roundRect">
            <a:avLst/>
          </a:prstGeom>
          <a:solidFill>
            <a:srgbClr val="F1F4F7"/>
          </a:solidFill>
          <a:ln w="12700">
            <a:solidFill>
              <a:srgbClr val="E3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3566160"/>
            <a:ext cx="10515600" cy="640080"/>
          </a:xfrm>
          <a:prstGeom prst="rect">
            <a:avLst/>
          </a:prstGeom>
          <a:noFill/>
        </p:spPr>
        <p:txBody>
          <a:bodyPr wrap="square" anchor="t">
            <a:spAutoFit/>
          </a:bodyPr>
          <a:lstStyle/>
          <a:p>
            <a:pPr algn="ctr"/>
            <a:r>
              <a:rPr sz="2200" b="1" i="0">
                <a:solidFill>
                  <a:srgbClr val="1E2A38"/>
                </a:solidFill>
                <a:latin typeface="Calibri"/>
              </a:rPr>
              <a:t>PUT SCREENSHOT HERE</a:t>
            </a:r>
          </a:p>
        </p:txBody>
      </p:sp>
      <p:sp>
        <p:nvSpPr>
          <p:cNvPr id="7" name="TextBox 6"/>
          <p:cNvSpPr txBox="1"/>
          <p:nvPr/>
        </p:nvSpPr>
        <p:spPr>
          <a:xfrm>
            <a:off x="1097280" y="4343400"/>
            <a:ext cx="9966960" cy="822960"/>
          </a:xfrm>
          <a:prstGeom prst="rect">
            <a:avLst/>
          </a:prstGeom>
          <a:noFill/>
        </p:spPr>
        <p:txBody>
          <a:bodyPr wrap="square" anchor="t">
            <a:spAutoFit/>
          </a:bodyPr>
          <a:lstStyle/>
          <a:p>
            <a:pPr algn="ctr"/>
            <a:r>
              <a:rPr sz="1400" b="1" i="0">
                <a:solidFill>
                  <a:srgbClr val="E07A3F"/>
                </a:solidFill>
                <a:latin typeface="Calibri"/>
              </a:rPr>
              <a:t>SCREEN: Home / Dashboard (right after login)  ·  login as export_manager</a:t>
            </a:r>
          </a:p>
        </p:txBody>
      </p:sp>
      <p:pic>
        <p:nvPicPr>
          <p:cNvPr id="9" name="Picture 8">
            <a:extLst>
              <a:ext uri="{FF2B5EF4-FFF2-40B4-BE49-F238E27FC236}">
                <a16:creationId xmlns:a16="http://schemas.microsoft.com/office/drawing/2014/main" id="{D52FB486-28A1-BD76-3CCA-2581562995C1}"/>
              </a:ext>
            </a:extLst>
          </p:cNvPr>
          <p:cNvPicPr>
            <a:picLocks noChangeAspect="1"/>
          </p:cNvPicPr>
          <p:nvPr/>
        </p:nvPicPr>
        <p:blipFill>
          <a:blip r:embed="rId3"/>
          <a:stretch>
            <a:fillRect/>
          </a:stretch>
        </p:blipFill>
        <p:spPr>
          <a:xfrm>
            <a:off x="100584" y="1828800"/>
            <a:ext cx="11807859" cy="495160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822960"/>
          </a:xfrm>
          <a:prstGeom prst="rect">
            <a:avLst/>
          </a:prstGeom>
          <a:noFill/>
        </p:spPr>
        <p:txBody>
          <a:bodyPr wrap="square" anchor="t">
            <a:spAutoFit/>
          </a:bodyPr>
          <a:lstStyle/>
          <a:p>
            <a:pPr algn="l"/>
            <a:r>
              <a:rPr sz="3000" b="1" i="0">
                <a:solidFill>
                  <a:srgbClr val="1E2A38"/>
                </a:solidFill>
                <a:latin typeface="Calibri"/>
              </a:rPr>
              <a:t>Daily Harvest &amp; Draft Creation</a:t>
            </a:r>
          </a:p>
        </p:txBody>
      </p:sp>
      <p:sp>
        <p:nvSpPr>
          <p:cNvPr id="4" name="TextBox 3"/>
          <p:cNvSpPr txBox="1"/>
          <p:nvPr/>
        </p:nvSpPr>
        <p:spPr>
          <a:xfrm>
            <a:off x="640080" y="1417320"/>
            <a:ext cx="10972800" cy="822960"/>
          </a:xfrm>
          <a:prstGeom prst="rect">
            <a:avLst/>
          </a:prstGeom>
          <a:noFill/>
        </p:spPr>
        <p:txBody>
          <a:bodyPr wrap="square" anchor="t">
            <a:spAutoFit/>
          </a:bodyPr>
          <a:lstStyle/>
          <a:p>
            <a:pPr algn="l"/>
            <a:r>
              <a:rPr sz="1500" b="0" i="0">
                <a:solidFill>
                  <a:srgbClr val="6B7280"/>
                </a:solidFill>
                <a:latin typeface="Calibri"/>
              </a:rPr>
              <a:t>Supply side: harvest entered per block, then turned into one-truck shipment drafts — the start of the export pipeline.</a:t>
            </a:r>
          </a:p>
        </p:txBody>
      </p:sp>
      <p:sp>
        <p:nvSpPr>
          <p:cNvPr id="5" name="Rounded Rectangle 4"/>
          <p:cNvSpPr/>
          <p:nvPr/>
        </p:nvSpPr>
        <p:spPr>
          <a:xfrm>
            <a:off x="822960" y="2331720"/>
            <a:ext cx="10515600" cy="4023360"/>
          </a:xfrm>
          <a:prstGeom prst="roundRect">
            <a:avLst/>
          </a:prstGeom>
          <a:solidFill>
            <a:srgbClr val="F1F4F7"/>
          </a:solidFill>
          <a:ln w="12700">
            <a:solidFill>
              <a:srgbClr val="E3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3566160"/>
            <a:ext cx="10515600" cy="640080"/>
          </a:xfrm>
          <a:prstGeom prst="rect">
            <a:avLst/>
          </a:prstGeom>
          <a:noFill/>
        </p:spPr>
        <p:txBody>
          <a:bodyPr wrap="square" anchor="t">
            <a:spAutoFit/>
          </a:bodyPr>
          <a:lstStyle/>
          <a:p>
            <a:pPr algn="ctr"/>
            <a:r>
              <a:rPr sz="2200" b="1" i="0">
                <a:solidFill>
                  <a:srgbClr val="1E2A38"/>
                </a:solidFill>
                <a:latin typeface="Calibri"/>
              </a:rPr>
              <a:t>PUT SCREENSHOT HERE</a:t>
            </a:r>
          </a:p>
        </p:txBody>
      </p:sp>
      <p:sp>
        <p:nvSpPr>
          <p:cNvPr id="7" name="TextBox 6"/>
          <p:cNvSpPr txBox="1"/>
          <p:nvPr/>
        </p:nvSpPr>
        <p:spPr>
          <a:xfrm>
            <a:off x="1097280" y="4343400"/>
            <a:ext cx="9966960" cy="822960"/>
          </a:xfrm>
          <a:prstGeom prst="rect">
            <a:avLst/>
          </a:prstGeom>
          <a:noFill/>
        </p:spPr>
        <p:txBody>
          <a:bodyPr wrap="square" anchor="t">
            <a:spAutoFit/>
          </a:bodyPr>
          <a:lstStyle/>
          <a:p>
            <a:pPr algn="ctr"/>
            <a:r>
              <a:rPr sz="1400" b="1" i="0">
                <a:solidFill>
                  <a:srgbClr val="E07A3F"/>
                </a:solidFill>
                <a:latin typeface="Calibri"/>
              </a:rPr>
              <a:t>SCREEN: Daily Harvest board / Draft pool  ·  login as loading_dept_head or export_manager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822960"/>
          </a:xfrm>
          <a:prstGeom prst="rect">
            <a:avLst/>
          </a:prstGeom>
          <a:noFill/>
        </p:spPr>
        <p:txBody>
          <a:bodyPr wrap="square" anchor="t">
            <a:spAutoFit/>
          </a:bodyPr>
          <a:lstStyle/>
          <a:p>
            <a:pPr algn="l"/>
            <a:r>
              <a:rPr sz="3000" b="1" i="0">
                <a:solidFill>
                  <a:srgbClr val="1E2A38"/>
                </a:solidFill>
                <a:latin typeface="Calibri"/>
              </a:rPr>
              <a:t>The Sheet — Main Working Surface</a:t>
            </a:r>
          </a:p>
        </p:txBody>
      </p:sp>
      <p:sp>
        <p:nvSpPr>
          <p:cNvPr id="4" name="TextBox 3"/>
          <p:cNvSpPr txBox="1"/>
          <p:nvPr/>
        </p:nvSpPr>
        <p:spPr>
          <a:xfrm>
            <a:off x="640080" y="1417320"/>
            <a:ext cx="10972800" cy="822960"/>
          </a:xfrm>
          <a:prstGeom prst="rect">
            <a:avLst/>
          </a:prstGeom>
          <a:noFill/>
        </p:spPr>
        <p:txBody>
          <a:bodyPr wrap="square" anchor="t">
            <a:spAutoFit/>
          </a:bodyPr>
          <a:lstStyle/>
          <a:p>
            <a:pPr algn="l"/>
            <a:r>
              <a:rPr sz="1500" b="0" i="0">
                <a:solidFill>
                  <a:srgbClr val="6B7280"/>
                </a:solidFill>
                <a:latin typeface="Calibri"/>
              </a:rPr>
              <a:t>Spreadsheet-style grid all 9 roles work in. Inline editing, frozen rows/columns, copy/paste, undo, per-cell comments — but every change is validated and shared in real time.</a:t>
            </a:r>
          </a:p>
        </p:txBody>
      </p:sp>
      <p:sp>
        <p:nvSpPr>
          <p:cNvPr id="5" name="Rounded Rectangle 4"/>
          <p:cNvSpPr/>
          <p:nvPr/>
        </p:nvSpPr>
        <p:spPr>
          <a:xfrm>
            <a:off x="822960" y="2331720"/>
            <a:ext cx="10515600" cy="4023360"/>
          </a:xfrm>
          <a:prstGeom prst="roundRect">
            <a:avLst/>
          </a:prstGeom>
          <a:solidFill>
            <a:srgbClr val="F1F4F7"/>
          </a:solidFill>
          <a:ln w="12700">
            <a:solidFill>
              <a:srgbClr val="E3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3566160"/>
            <a:ext cx="10515600" cy="640080"/>
          </a:xfrm>
          <a:prstGeom prst="rect">
            <a:avLst/>
          </a:prstGeom>
          <a:noFill/>
        </p:spPr>
        <p:txBody>
          <a:bodyPr wrap="square" anchor="t">
            <a:spAutoFit/>
          </a:bodyPr>
          <a:lstStyle/>
          <a:p>
            <a:pPr algn="ctr"/>
            <a:r>
              <a:rPr sz="2200" b="1" i="0">
                <a:solidFill>
                  <a:srgbClr val="1E2A38"/>
                </a:solidFill>
                <a:latin typeface="Calibri"/>
              </a:rPr>
              <a:t>PUT SCREENSHOT HERE</a:t>
            </a:r>
          </a:p>
        </p:txBody>
      </p:sp>
      <p:sp>
        <p:nvSpPr>
          <p:cNvPr id="7" name="TextBox 6"/>
          <p:cNvSpPr txBox="1"/>
          <p:nvPr/>
        </p:nvSpPr>
        <p:spPr>
          <a:xfrm>
            <a:off x="1097280" y="4343400"/>
            <a:ext cx="9966960" cy="822960"/>
          </a:xfrm>
          <a:prstGeom prst="rect">
            <a:avLst/>
          </a:prstGeom>
          <a:noFill/>
        </p:spPr>
        <p:txBody>
          <a:bodyPr wrap="square" anchor="t">
            <a:spAutoFit/>
          </a:bodyPr>
          <a:lstStyle/>
          <a:p>
            <a:pPr algn="ctr"/>
            <a:r>
              <a:rPr sz="1400" b="1" i="0">
                <a:solidFill>
                  <a:srgbClr val="E07A3F"/>
                </a:solidFill>
                <a:latin typeface="Calibri"/>
              </a:rPr>
              <a:t>SCREEN: Shipments → Sheet view  ·  login as export_manager (NOT admin)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822960"/>
          </a:xfrm>
          <a:prstGeom prst="rect">
            <a:avLst/>
          </a:prstGeom>
          <a:noFill/>
        </p:spPr>
        <p:txBody>
          <a:bodyPr wrap="square" anchor="t">
            <a:spAutoFit/>
          </a:bodyPr>
          <a:lstStyle/>
          <a:p>
            <a:pPr algn="l"/>
            <a:r>
              <a:rPr sz="3000" b="1" i="0">
                <a:solidFill>
                  <a:srgbClr val="1E2A38"/>
                </a:solidFill>
                <a:latin typeface="Calibri"/>
              </a:rPr>
              <a:t>Kanban Board — Phase Tracking</a:t>
            </a:r>
          </a:p>
        </p:txBody>
      </p:sp>
      <p:sp>
        <p:nvSpPr>
          <p:cNvPr id="4" name="TextBox 3"/>
          <p:cNvSpPr txBox="1"/>
          <p:nvPr/>
        </p:nvSpPr>
        <p:spPr>
          <a:xfrm>
            <a:off x="640080" y="1417320"/>
            <a:ext cx="10972800" cy="822960"/>
          </a:xfrm>
          <a:prstGeom prst="rect">
            <a:avLst/>
          </a:prstGeom>
          <a:noFill/>
        </p:spPr>
        <p:txBody>
          <a:bodyPr wrap="square" anchor="t">
            <a:spAutoFit/>
          </a:bodyPr>
          <a:lstStyle/>
          <a:p>
            <a:pPr algn="l"/>
            <a:r>
              <a:rPr sz="1500" b="0" i="0">
                <a:solidFill>
                  <a:srgbClr val="6B7280"/>
                </a:solidFill>
                <a:latin typeface="Calibri"/>
              </a:rPr>
              <a:t>Each shipment flows through 7 phases (Plan → Prep → Docs → Load → Transit → Dest → Close), with average time-in-phase per column.</a:t>
            </a:r>
          </a:p>
        </p:txBody>
      </p:sp>
      <p:sp>
        <p:nvSpPr>
          <p:cNvPr id="5" name="Rounded Rectangle 4"/>
          <p:cNvSpPr/>
          <p:nvPr/>
        </p:nvSpPr>
        <p:spPr>
          <a:xfrm>
            <a:off x="822960" y="2331720"/>
            <a:ext cx="10515600" cy="4023360"/>
          </a:xfrm>
          <a:prstGeom prst="roundRect">
            <a:avLst/>
          </a:prstGeom>
          <a:solidFill>
            <a:srgbClr val="F1F4F7"/>
          </a:solidFill>
          <a:ln w="12700">
            <a:solidFill>
              <a:srgbClr val="E3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3566160"/>
            <a:ext cx="10515600" cy="640080"/>
          </a:xfrm>
          <a:prstGeom prst="rect">
            <a:avLst/>
          </a:prstGeom>
          <a:noFill/>
        </p:spPr>
        <p:txBody>
          <a:bodyPr wrap="square" anchor="t">
            <a:spAutoFit/>
          </a:bodyPr>
          <a:lstStyle/>
          <a:p>
            <a:pPr algn="ctr"/>
            <a:r>
              <a:rPr sz="2200" b="1" i="0">
                <a:solidFill>
                  <a:srgbClr val="1E2A38"/>
                </a:solidFill>
                <a:latin typeface="Calibri"/>
              </a:rPr>
              <a:t>PUT SCREENSHOT HERE</a:t>
            </a:r>
          </a:p>
        </p:txBody>
      </p:sp>
      <p:sp>
        <p:nvSpPr>
          <p:cNvPr id="7" name="TextBox 6"/>
          <p:cNvSpPr txBox="1"/>
          <p:nvPr/>
        </p:nvSpPr>
        <p:spPr>
          <a:xfrm>
            <a:off x="1097280" y="4343400"/>
            <a:ext cx="9966960" cy="822960"/>
          </a:xfrm>
          <a:prstGeom prst="rect">
            <a:avLst/>
          </a:prstGeom>
          <a:noFill/>
        </p:spPr>
        <p:txBody>
          <a:bodyPr wrap="square" anchor="t">
            <a:spAutoFit/>
          </a:bodyPr>
          <a:lstStyle/>
          <a:p>
            <a:pPr algn="ctr"/>
            <a:r>
              <a:rPr sz="1400" b="1" i="0">
                <a:solidFill>
                  <a:srgbClr val="E07A3F"/>
                </a:solidFill>
                <a:latin typeface="Calibri"/>
              </a:rPr>
              <a:t>SCREEN: Shipments → Board (Kanban)  ·  login as export_manager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822960"/>
          </a:xfrm>
          <a:prstGeom prst="rect">
            <a:avLst/>
          </a:prstGeom>
          <a:noFill/>
        </p:spPr>
        <p:txBody>
          <a:bodyPr wrap="square" anchor="t">
            <a:spAutoFit/>
          </a:bodyPr>
          <a:lstStyle/>
          <a:p>
            <a:pPr algn="l"/>
            <a:r>
              <a:rPr sz="3000" b="1" i="0">
                <a:solidFill>
                  <a:srgbClr val="1E2A38"/>
                </a:solidFill>
                <a:latin typeface="Calibri"/>
              </a:rPr>
              <a:t>Shipment Detail — 13-Step Lifecycle</a:t>
            </a:r>
          </a:p>
        </p:txBody>
      </p:sp>
      <p:sp>
        <p:nvSpPr>
          <p:cNvPr id="4" name="TextBox 3"/>
          <p:cNvSpPr txBox="1"/>
          <p:nvPr/>
        </p:nvSpPr>
        <p:spPr>
          <a:xfrm>
            <a:off x="640080" y="1417320"/>
            <a:ext cx="10972800" cy="822960"/>
          </a:xfrm>
          <a:prstGeom prst="rect">
            <a:avLst/>
          </a:prstGeom>
          <a:noFill/>
        </p:spPr>
        <p:txBody>
          <a:bodyPr wrap="square" anchor="t">
            <a:spAutoFit/>
          </a:bodyPr>
          <a:lstStyle/>
          <a:p>
            <a:pPr algn="l"/>
            <a:r>
              <a:rPr sz="1500" b="0" i="0">
                <a:solidFill>
                  <a:srgbClr val="6B7280"/>
                </a:solidFill>
                <a:latin typeface="Calibri"/>
              </a:rPr>
              <a:t>Full record of one shipment with the 13-step timeline, weights, firm splits, documents and status history.</a:t>
            </a:r>
          </a:p>
        </p:txBody>
      </p:sp>
      <p:sp>
        <p:nvSpPr>
          <p:cNvPr id="5" name="Rounded Rectangle 4"/>
          <p:cNvSpPr/>
          <p:nvPr/>
        </p:nvSpPr>
        <p:spPr>
          <a:xfrm>
            <a:off x="822960" y="2331720"/>
            <a:ext cx="10515600" cy="4023360"/>
          </a:xfrm>
          <a:prstGeom prst="roundRect">
            <a:avLst/>
          </a:prstGeom>
          <a:solidFill>
            <a:srgbClr val="F1F4F7"/>
          </a:solidFill>
          <a:ln w="12700">
            <a:solidFill>
              <a:srgbClr val="E3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3566160"/>
            <a:ext cx="10515600" cy="640080"/>
          </a:xfrm>
          <a:prstGeom prst="rect">
            <a:avLst/>
          </a:prstGeom>
          <a:noFill/>
        </p:spPr>
        <p:txBody>
          <a:bodyPr wrap="square" anchor="t">
            <a:spAutoFit/>
          </a:bodyPr>
          <a:lstStyle/>
          <a:p>
            <a:pPr algn="ctr"/>
            <a:r>
              <a:rPr sz="2200" b="1" i="0">
                <a:solidFill>
                  <a:srgbClr val="1E2A38"/>
                </a:solidFill>
                <a:latin typeface="Calibri"/>
              </a:rPr>
              <a:t>PUT SCREENSHOT HERE</a:t>
            </a:r>
          </a:p>
        </p:txBody>
      </p:sp>
      <p:sp>
        <p:nvSpPr>
          <p:cNvPr id="7" name="TextBox 6"/>
          <p:cNvSpPr txBox="1"/>
          <p:nvPr/>
        </p:nvSpPr>
        <p:spPr>
          <a:xfrm>
            <a:off x="1097280" y="4343400"/>
            <a:ext cx="9966960" cy="822960"/>
          </a:xfrm>
          <a:prstGeom prst="rect">
            <a:avLst/>
          </a:prstGeom>
          <a:noFill/>
        </p:spPr>
        <p:txBody>
          <a:bodyPr wrap="square" anchor="t">
            <a:spAutoFit/>
          </a:bodyPr>
          <a:lstStyle/>
          <a:p>
            <a:pPr algn="ctr"/>
            <a:r>
              <a:rPr sz="1400" b="1" i="0">
                <a:solidFill>
                  <a:srgbClr val="E07A3F"/>
                </a:solidFill>
                <a:latin typeface="Calibri"/>
              </a:rPr>
              <a:t>SCREEN: open any shipment → Detail (show the 13-step timeline)  ·  login as export_manager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822960"/>
          </a:xfrm>
          <a:prstGeom prst="rect">
            <a:avLst/>
          </a:prstGeom>
          <a:noFill/>
        </p:spPr>
        <p:txBody>
          <a:bodyPr wrap="square" anchor="t">
            <a:spAutoFit/>
          </a:bodyPr>
          <a:lstStyle/>
          <a:p>
            <a:pPr algn="l"/>
            <a:r>
              <a:rPr sz="3000" b="1" i="0">
                <a:solidFill>
                  <a:srgbClr val="1E2A38"/>
                </a:solidFill>
                <a:latin typeface="Calibri"/>
              </a:rPr>
              <a:t>Quota Management</a:t>
            </a:r>
          </a:p>
        </p:txBody>
      </p:sp>
      <p:sp>
        <p:nvSpPr>
          <p:cNvPr id="4" name="TextBox 3"/>
          <p:cNvSpPr txBox="1"/>
          <p:nvPr/>
        </p:nvSpPr>
        <p:spPr>
          <a:xfrm>
            <a:off x="640080" y="1417320"/>
            <a:ext cx="10972800" cy="822960"/>
          </a:xfrm>
          <a:prstGeom prst="rect">
            <a:avLst/>
          </a:prstGeom>
          <a:noFill/>
        </p:spPr>
        <p:txBody>
          <a:bodyPr wrap="square" anchor="t">
            <a:spAutoFit/>
          </a:bodyPr>
          <a:lstStyle/>
          <a:p>
            <a:pPr algn="l"/>
            <a:r>
              <a:rPr sz="1500" b="0" i="0">
                <a:solidFill>
                  <a:srgbClr val="6B7280"/>
                </a:solidFill>
                <a:latin typeface="Calibri"/>
              </a:rPr>
              <a:t>Government 1:10 quota tracking per firm — usage, remaining balance, per-firm progress and alerts.</a:t>
            </a:r>
          </a:p>
        </p:txBody>
      </p:sp>
      <p:sp>
        <p:nvSpPr>
          <p:cNvPr id="5" name="Rounded Rectangle 4"/>
          <p:cNvSpPr/>
          <p:nvPr/>
        </p:nvSpPr>
        <p:spPr>
          <a:xfrm>
            <a:off x="822960" y="2331720"/>
            <a:ext cx="10515600" cy="4023360"/>
          </a:xfrm>
          <a:prstGeom prst="roundRect">
            <a:avLst/>
          </a:prstGeom>
          <a:solidFill>
            <a:srgbClr val="F1F4F7"/>
          </a:solidFill>
          <a:ln w="12700">
            <a:solidFill>
              <a:srgbClr val="E3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3566160"/>
            <a:ext cx="10515600" cy="640080"/>
          </a:xfrm>
          <a:prstGeom prst="rect">
            <a:avLst/>
          </a:prstGeom>
          <a:noFill/>
        </p:spPr>
        <p:txBody>
          <a:bodyPr wrap="square" anchor="t">
            <a:spAutoFit/>
          </a:bodyPr>
          <a:lstStyle/>
          <a:p>
            <a:pPr algn="ctr"/>
            <a:r>
              <a:rPr sz="2200" b="1" i="0">
                <a:solidFill>
                  <a:srgbClr val="1E2A38"/>
                </a:solidFill>
                <a:latin typeface="Calibri"/>
              </a:rPr>
              <a:t>PUT SCREENSHOT HERE</a:t>
            </a:r>
          </a:p>
        </p:txBody>
      </p:sp>
      <p:sp>
        <p:nvSpPr>
          <p:cNvPr id="7" name="TextBox 6"/>
          <p:cNvSpPr txBox="1"/>
          <p:nvPr/>
        </p:nvSpPr>
        <p:spPr>
          <a:xfrm>
            <a:off x="1097280" y="4343400"/>
            <a:ext cx="9966960" cy="822960"/>
          </a:xfrm>
          <a:prstGeom prst="rect">
            <a:avLst/>
          </a:prstGeom>
          <a:noFill/>
        </p:spPr>
        <p:txBody>
          <a:bodyPr wrap="square" anchor="t">
            <a:spAutoFit/>
          </a:bodyPr>
          <a:lstStyle/>
          <a:p>
            <a:pPr algn="ctr"/>
            <a:r>
              <a:rPr sz="1400" b="1" i="0">
                <a:solidFill>
                  <a:srgbClr val="E07A3F"/>
                </a:solidFill>
                <a:latin typeface="Calibri"/>
              </a:rPr>
              <a:t>SCREEN: Quota dashboard  ·  login as export_manager</a:t>
            </a:r>
          </a:p>
        </p:txBody>
      </p:sp>
      <p:pic>
        <p:nvPicPr>
          <p:cNvPr id="9" name="Picture 8">
            <a:extLst>
              <a:ext uri="{FF2B5EF4-FFF2-40B4-BE49-F238E27FC236}">
                <a16:creationId xmlns:a16="http://schemas.microsoft.com/office/drawing/2014/main" id="{00F621BC-C86B-22F9-3F7D-9BCDEFD7C69F}"/>
              </a:ext>
            </a:extLst>
          </p:cNvPr>
          <p:cNvPicPr>
            <a:picLocks noChangeAspect="1"/>
          </p:cNvPicPr>
          <p:nvPr/>
        </p:nvPicPr>
        <p:blipFill>
          <a:blip r:embed="rId3"/>
          <a:stretch>
            <a:fillRect/>
          </a:stretch>
        </p:blipFill>
        <p:spPr>
          <a:xfrm>
            <a:off x="-196608" y="1863701"/>
            <a:ext cx="12585215" cy="499429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4733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822960"/>
          </a:xfrm>
          <a:prstGeom prst="rect">
            <a:avLst/>
          </a:prstGeom>
          <a:noFill/>
        </p:spPr>
        <p:txBody>
          <a:bodyPr wrap="square" anchor="t">
            <a:spAutoFit/>
          </a:bodyPr>
          <a:lstStyle/>
          <a:p>
            <a:pPr algn="l"/>
            <a:r>
              <a:rPr sz="3000" b="1" i="0">
                <a:solidFill>
                  <a:srgbClr val="1E2A38"/>
                </a:solidFill>
                <a:latin typeface="Calibri"/>
              </a:rPr>
              <a:t>Weekly Harvest Planning</a:t>
            </a:r>
          </a:p>
        </p:txBody>
      </p:sp>
      <p:sp>
        <p:nvSpPr>
          <p:cNvPr id="4" name="TextBox 3"/>
          <p:cNvSpPr txBox="1"/>
          <p:nvPr/>
        </p:nvSpPr>
        <p:spPr>
          <a:xfrm>
            <a:off x="640080" y="1417320"/>
            <a:ext cx="10972800" cy="822960"/>
          </a:xfrm>
          <a:prstGeom prst="rect">
            <a:avLst/>
          </a:prstGeom>
          <a:noFill/>
        </p:spPr>
        <p:txBody>
          <a:bodyPr wrap="square" anchor="t">
            <a:spAutoFit/>
          </a:bodyPr>
          <a:lstStyle/>
          <a:p>
            <a:pPr algn="l"/>
            <a:r>
              <a:rPr sz="1500" b="0" i="0">
                <a:solidFill>
                  <a:srgbClr val="6B7280"/>
                </a:solidFill>
                <a:latin typeface="Calibri"/>
              </a:rPr>
              <a:t>Block × day planning grid — plan vs. actual, feeding the export pipeline.</a:t>
            </a:r>
          </a:p>
        </p:txBody>
      </p:sp>
      <p:sp>
        <p:nvSpPr>
          <p:cNvPr id="5" name="Rounded Rectangle 4"/>
          <p:cNvSpPr/>
          <p:nvPr/>
        </p:nvSpPr>
        <p:spPr>
          <a:xfrm>
            <a:off x="822960" y="2331720"/>
            <a:ext cx="10515600" cy="4023360"/>
          </a:xfrm>
          <a:prstGeom prst="roundRect">
            <a:avLst/>
          </a:prstGeom>
          <a:solidFill>
            <a:srgbClr val="F1F4F7"/>
          </a:solidFill>
          <a:ln w="12700">
            <a:solidFill>
              <a:srgbClr val="E3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3566160"/>
            <a:ext cx="10515600" cy="640080"/>
          </a:xfrm>
          <a:prstGeom prst="rect">
            <a:avLst/>
          </a:prstGeom>
          <a:noFill/>
        </p:spPr>
        <p:txBody>
          <a:bodyPr wrap="square" anchor="t">
            <a:spAutoFit/>
          </a:bodyPr>
          <a:lstStyle/>
          <a:p>
            <a:pPr algn="ctr"/>
            <a:r>
              <a:rPr sz="2200" b="1" i="0">
                <a:solidFill>
                  <a:srgbClr val="1E2A38"/>
                </a:solidFill>
                <a:latin typeface="Calibri"/>
              </a:rPr>
              <a:t>PUT SCREENSHOT HERE</a:t>
            </a:r>
          </a:p>
        </p:txBody>
      </p:sp>
      <p:sp>
        <p:nvSpPr>
          <p:cNvPr id="7" name="TextBox 6"/>
          <p:cNvSpPr txBox="1"/>
          <p:nvPr/>
        </p:nvSpPr>
        <p:spPr>
          <a:xfrm>
            <a:off x="1097280" y="4343400"/>
            <a:ext cx="9966960" cy="822960"/>
          </a:xfrm>
          <a:prstGeom prst="rect">
            <a:avLst/>
          </a:prstGeom>
          <a:noFill/>
        </p:spPr>
        <p:txBody>
          <a:bodyPr wrap="square" anchor="t">
            <a:spAutoFit/>
          </a:bodyPr>
          <a:lstStyle/>
          <a:p>
            <a:pPr algn="ctr"/>
            <a:r>
              <a:rPr sz="1400" b="1" i="0">
                <a:solidFill>
                  <a:srgbClr val="E07A3F"/>
                </a:solidFill>
                <a:latin typeface="Calibri"/>
              </a:rPr>
              <a:t>SCREEN: Weekly harvest planning grid  ·  login as export_manager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822960"/>
          </a:xfrm>
          <a:prstGeom prst="rect">
            <a:avLst/>
          </a:prstGeom>
          <a:noFill/>
        </p:spPr>
        <p:txBody>
          <a:bodyPr wrap="square" anchor="t">
            <a:spAutoFit/>
          </a:bodyPr>
          <a:lstStyle/>
          <a:p>
            <a:pPr algn="l"/>
            <a:r>
              <a:rPr sz="3000" b="1" i="0">
                <a:solidFill>
                  <a:srgbClr val="1E2A38"/>
                </a:solidFill>
                <a:latin typeface="Calibri"/>
              </a:rPr>
              <a:t>My Tasks</a:t>
            </a:r>
          </a:p>
        </p:txBody>
      </p:sp>
      <p:sp>
        <p:nvSpPr>
          <p:cNvPr id="4" name="TextBox 3"/>
          <p:cNvSpPr txBox="1"/>
          <p:nvPr/>
        </p:nvSpPr>
        <p:spPr>
          <a:xfrm>
            <a:off x="640080" y="1417320"/>
            <a:ext cx="10972800" cy="822960"/>
          </a:xfrm>
          <a:prstGeom prst="rect">
            <a:avLst/>
          </a:prstGeom>
          <a:noFill/>
        </p:spPr>
        <p:txBody>
          <a:bodyPr wrap="square" anchor="t">
            <a:spAutoFit/>
          </a:bodyPr>
          <a:lstStyle/>
          <a:p>
            <a:pPr algn="l"/>
            <a:r>
              <a:rPr sz="1500" b="0" i="0">
                <a:solidFill>
                  <a:srgbClr val="6B7280"/>
                </a:solidFill>
                <a:latin typeface="Calibri"/>
              </a:rPr>
              <a:t>Each employee's personal board: to-do / in progress / blocked / done-today, drawn from tasks assigned across shipments.</a:t>
            </a:r>
          </a:p>
        </p:txBody>
      </p:sp>
      <p:sp>
        <p:nvSpPr>
          <p:cNvPr id="5" name="Rounded Rectangle 4"/>
          <p:cNvSpPr/>
          <p:nvPr/>
        </p:nvSpPr>
        <p:spPr>
          <a:xfrm>
            <a:off x="822960" y="2331720"/>
            <a:ext cx="10515600" cy="4023360"/>
          </a:xfrm>
          <a:prstGeom prst="roundRect">
            <a:avLst/>
          </a:prstGeom>
          <a:solidFill>
            <a:srgbClr val="F1F4F7"/>
          </a:solidFill>
          <a:ln w="12700">
            <a:solidFill>
              <a:srgbClr val="E3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3566160"/>
            <a:ext cx="10515600" cy="640080"/>
          </a:xfrm>
          <a:prstGeom prst="rect">
            <a:avLst/>
          </a:prstGeom>
          <a:noFill/>
        </p:spPr>
        <p:txBody>
          <a:bodyPr wrap="square" anchor="t">
            <a:spAutoFit/>
          </a:bodyPr>
          <a:lstStyle/>
          <a:p>
            <a:pPr algn="ctr"/>
            <a:r>
              <a:rPr sz="2200" b="1" i="0">
                <a:solidFill>
                  <a:srgbClr val="1E2A38"/>
                </a:solidFill>
                <a:latin typeface="Calibri"/>
              </a:rPr>
              <a:t>PUT SCREENSHOT HERE</a:t>
            </a:r>
          </a:p>
        </p:txBody>
      </p:sp>
      <p:sp>
        <p:nvSpPr>
          <p:cNvPr id="7" name="TextBox 6"/>
          <p:cNvSpPr txBox="1"/>
          <p:nvPr/>
        </p:nvSpPr>
        <p:spPr>
          <a:xfrm>
            <a:off x="1097280" y="4343400"/>
            <a:ext cx="9966960" cy="822960"/>
          </a:xfrm>
          <a:prstGeom prst="rect">
            <a:avLst/>
          </a:prstGeom>
          <a:noFill/>
        </p:spPr>
        <p:txBody>
          <a:bodyPr wrap="square" anchor="t">
            <a:spAutoFit/>
          </a:bodyPr>
          <a:lstStyle/>
          <a:p>
            <a:pPr algn="ctr"/>
            <a:r>
              <a:rPr sz="1400" b="1" i="0">
                <a:solidFill>
                  <a:srgbClr val="E07A3F"/>
                </a:solidFill>
                <a:latin typeface="Calibri"/>
              </a:rPr>
              <a:t>SCREEN: My Tasks board  ·  login as any role that has tasks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822960"/>
          </a:xfrm>
          <a:prstGeom prst="rect">
            <a:avLst/>
          </a:prstGeom>
          <a:noFill/>
        </p:spPr>
        <p:txBody>
          <a:bodyPr wrap="square" anchor="t">
            <a:spAutoFit/>
          </a:bodyPr>
          <a:lstStyle/>
          <a:p>
            <a:pPr algn="l"/>
            <a:r>
              <a:rPr sz="3000" b="1" i="0">
                <a:solidFill>
                  <a:srgbClr val="1E2A38"/>
                </a:solidFill>
                <a:latin typeface="Calibri"/>
              </a:rPr>
              <a:t>Comments &amp; Collaboration</a:t>
            </a:r>
          </a:p>
        </p:txBody>
      </p:sp>
      <p:sp>
        <p:nvSpPr>
          <p:cNvPr id="4" name="TextBox 3"/>
          <p:cNvSpPr txBox="1"/>
          <p:nvPr/>
        </p:nvSpPr>
        <p:spPr>
          <a:xfrm>
            <a:off x="640080" y="1417320"/>
            <a:ext cx="10972800" cy="822960"/>
          </a:xfrm>
          <a:prstGeom prst="rect">
            <a:avLst/>
          </a:prstGeom>
          <a:noFill/>
        </p:spPr>
        <p:txBody>
          <a:bodyPr wrap="square" anchor="t">
            <a:spAutoFit/>
          </a:bodyPr>
          <a:lstStyle/>
          <a:p>
            <a:pPr algn="l"/>
            <a:r>
              <a:rPr sz="1500" b="0" i="0">
                <a:solidFill>
                  <a:srgbClr val="6B7280"/>
                </a:solidFill>
                <a:latin typeface="Calibri"/>
              </a:rPr>
              <a:t>Threaded comments with @user / @role mentions attached to specific cells — replaces the WhatsApp coordination.</a:t>
            </a:r>
          </a:p>
        </p:txBody>
      </p:sp>
      <p:sp>
        <p:nvSpPr>
          <p:cNvPr id="5" name="Rounded Rectangle 4"/>
          <p:cNvSpPr/>
          <p:nvPr/>
        </p:nvSpPr>
        <p:spPr>
          <a:xfrm>
            <a:off x="822960" y="2331720"/>
            <a:ext cx="10515600" cy="4023360"/>
          </a:xfrm>
          <a:prstGeom prst="roundRect">
            <a:avLst/>
          </a:prstGeom>
          <a:solidFill>
            <a:srgbClr val="F1F4F7"/>
          </a:solidFill>
          <a:ln w="12700">
            <a:solidFill>
              <a:srgbClr val="E3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3566160"/>
            <a:ext cx="10515600" cy="640080"/>
          </a:xfrm>
          <a:prstGeom prst="rect">
            <a:avLst/>
          </a:prstGeom>
          <a:noFill/>
        </p:spPr>
        <p:txBody>
          <a:bodyPr wrap="square" anchor="t">
            <a:spAutoFit/>
          </a:bodyPr>
          <a:lstStyle/>
          <a:p>
            <a:pPr algn="ctr"/>
            <a:r>
              <a:rPr sz="2200" b="1" i="0">
                <a:solidFill>
                  <a:srgbClr val="1E2A38"/>
                </a:solidFill>
                <a:latin typeface="Calibri"/>
              </a:rPr>
              <a:t>PUT SCREENSHOT HERE</a:t>
            </a:r>
          </a:p>
        </p:txBody>
      </p:sp>
      <p:sp>
        <p:nvSpPr>
          <p:cNvPr id="7" name="TextBox 6"/>
          <p:cNvSpPr txBox="1"/>
          <p:nvPr/>
        </p:nvSpPr>
        <p:spPr>
          <a:xfrm>
            <a:off x="1097280" y="4343400"/>
            <a:ext cx="9966960" cy="822960"/>
          </a:xfrm>
          <a:prstGeom prst="rect">
            <a:avLst/>
          </a:prstGeom>
          <a:noFill/>
        </p:spPr>
        <p:txBody>
          <a:bodyPr wrap="square" anchor="t">
            <a:spAutoFit/>
          </a:bodyPr>
          <a:lstStyle/>
          <a:p>
            <a:pPr algn="ctr"/>
            <a:r>
              <a:rPr sz="1400" b="1" i="0">
                <a:solidFill>
                  <a:srgbClr val="E07A3F"/>
                </a:solidFill>
                <a:latin typeface="Calibri"/>
              </a:rPr>
              <a:t>SCREEN: open the Comments drawer on a Sheet cell  ·  login as export_manager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822960"/>
          </a:xfrm>
          <a:prstGeom prst="rect">
            <a:avLst/>
          </a:prstGeom>
          <a:noFill/>
        </p:spPr>
        <p:txBody>
          <a:bodyPr wrap="square" anchor="t">
            <a:spAutoFit/>
          </a:bodyPr>
          <a:lstStyle/>
          <a:p>
            <a:pPr algn="l"/>
            <a:r>
              <a:rPr sz="3000" b="1" i="0">
                <a:solidFill>
                  <a:srgbClr val="1E2A38"/>
                </a:solidFill>
                <a:latin typeface="Calibri"/>
              </a:rPr>
              <a:t>Executive Dashboard</a:t>
            </a:r>
          </a:p>
        </p:txBody>
      </p:sp>
      <p:sp>
        <p:nvSpPr>
          <p:cNvPr id="4" name="TextBox 3"/>
          <p:cNvSpPr txBox="1"/>
          <p:nvPr/>
        </p:nvSpPr>
        <p:spPr>
          <a:xfrm>
            <a:off x="640080" y="1417320"/>
            <a:ext cx="10972800" cy="822960"/>
          </a:xfrm>
          <a:prstGeom prst="rect">
            <a:avLst/>
          </a:prstGeom>
          <a:noFill/>
        </p:spPr>
        <p:txBody>
          <a:bodyPr wrap="square" anchor="t">
            <a:spAutoFit/>
          </a:bodyPr>
          <a:lstStyle/>
          <a:p>
            <a:pPr algn="l"/>
            <a:r>
              <a:rPr sz="1500" b="0" i="0">
                <a:solidFill>
                  <a:srgbClr val="6B7280"/>
                </a:solidFill>
                <a:latin typeface="Calibri"/>
              </a:rPr>
              <a:t>Management view: revenue, outstanding debt by firm, firm-risk matrix, route profitability and quota status.</a:t>
            </a:r>
          </a:p>
        </p:txBody>
      </p:sp>
      <p:sp>
        <p:nvSpPr>
          <p:cNvPr id="5" name="Rounded Rectangle 4"/>
          <p:cNvSpPr/>
          <p:nvPr/>
        </p:nvSpPr>
        <p:spPr>
          <a:xfrm>
            <a:off x="822960" y="2331720"/>
            <a:ext cx="10515600" cy="4023360"/>
          </a:xfrm>
          <a:prstGeom prst="roundRect">
            <a:avLst/>
          </a:prstGeom>
          <a:solidFill>
            <a:srgbClr val="F1F4F7"/>
          </a:solidFill>
          <a:ln w="12700">
            <a:solidFill>
              <a:srgbClr val="E3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3566160"/>
            <a:ext cx="10515600" cy="640080"/>
          </a:xfrm>
          <a:prstGeom prst="rect">
            <a:avLst/>
          </a:prstGeom>
          <a:noFill/>
        </p:spPr>
        <p:txBody>
          <a:bodyPr wrap="square" anchor="t">
            <a:spAutoFit/>
          </a:bodyPr>
          <a:lstStyle/>
          <a:p>
            <a:pPr algn="ctr"/>
            <a:r>
              <a:rPr sz="2200" b="1" i="0">
                <a:solidFill>
                  <a:srgbClr val="1E2A38"/>
                </a:solidFill>
                <a:latin typeface="Calibri"/>
              </a:rPr>
              <a:t>PUT SCREENSHOT HERE</a:t>
            </a:r>
          </a:p>
        </p:txBody>
      </p:sp>
      <p:sp>
        <p:nvSpPr>
          <p:cNvPr id="7" name="TextBox 6"/>
          <p:cNvSpPr txBox="1"/>
          <p:nvPr/>
        </p:nvSpPr>
        <p:spPr>
          <a:xfrm>
            <a:off x="1097280" y="4343400"/>
            <a:ext cx="9966960" cy="822960"/>
          </a:xfrm>
          <a:prstGeom prst="rect">
            <a:avLst/>
          </a:prstGeom>
          <a:noFill/>
        </p:spPr>
        <p:txBody>
          <a:bodyPr wrap="square" anchor="t">
            <a:spAutoFit/>
          </a:bodyPr>
          <a:lstStyle/>
          <a:p>
            <a:pPr algn="ctr"/>
            <a:r>
              <a:rPr sz="1400" b="1" i="0">
                <a:solidFill>
                  <a:srgbClr val="E07A3F"/>
                </a:solidFill>
                <a:latin typeface="Calibri"/>
              </a:rPr>
              <a:t>SCREEN: Boss / executive dashboard  ·  login as director or boss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822960"/>
          </a:xfrm>
          <a:prstGeom prst="rect">
            <a:avLst/>
          </a:prstGeom>
          <a:noFill/>
        </p:spPr>
        <p:txBody>
          <a:bodyPr wrap="square" anchor="t">
            <a:spAutoFit/>
          </a:bodyPr>
          <a:lstStyle/>
          <a:p>
            <a:pPr algn="l"/>
            <a:r>
              <a:rPr sz="3000" b="1" i="0">
                <a:solidFill>
                  <a:srgbClr val="1E2A38"/>
                </a:solidFill>
                <a:latin typeface="Calibri"/>
              </a:rPr>
              <a:t>Contracts &amp; Invoices</a:t>
            </a:r>
          </a:p>
        </p:txBody>
      </p:sp>
      <p:sp>
        <p:nvSpPr>
          <p:cNvPr id="4" name="TextBox 3"/>
          <p:cNvSpPr txBox="1"/>
          <p:nvPr/>
        </p:nvSpPr>
        <p:spPr>
          <a:xfrm>
            <a:off x="640080" y="1417320"/>
            <a:ext cx="10972800" cy="822960"/>
          </a:xfrm>
          <a:prstGeom prst="rect">
            <a:avLst/>
          </a:prstGeom>
          <a:noFill/>
        </p:spPr>
        <p:txBody>
          <a:bodyPr wrap="square" anchor="t">
            <a:spAutoFit/>
          </a:bodyPr>
          <a:lstStyle/>
          <a:p>
            <a:pPr algn="l"/>
            <a:r>
              <a:rPr sz="1500" b="0" i="0">
                <a:solidFill>
                  <a:srgbClr val="6B7280"/>
                </a:solidFill>
                <a:latin typeface="Calibri"/>
              </a:rPr>
              <a:t>Contract registry and invoice tracking with the outstanding-debt breakdown.</a:t>
            </a:r>
          </a:p>
        </p:txBody>
      </p:sp>
      <p:sp>
        <p:nvSpPr>
          <p:cNvPr id="5" name="Rounded Rectangle 4"/>
          <p:cNvSpPr/>
          <p:nvPr/>
        </p:nvSpPr>
        <p:spPr>
          <a:xfrm>
            <a:off x="822960" y="2331720"/>
            <a:ext cx="10515600" cy="4023360"/>
          </a:xfrm>
          <a:prstGeom prst="roundRect">
            <a:avLst/>
          </a:prstGeom>
          <a:solidFill>
            <a:srgbClr val="F1F4F7"/>
          </a:solidFill>
          <a:ln w="12700">
            <a:solidFill>
              <a:srgbClr val="E3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3566160"/>
            <a:ext cx="10515600" cy="640080"/>
          </a:xfrm>
          <a:prstGeom prst="rect">
            <a:avLst/>
          </a:prstGeom>
          <a:noFill/>
        </p:spPr>
        <p:txBody>
          <a:bodyPr wrap="square" anchor="t">
            <a:spAutoFit/>
          </a:bodyPr>
          <a:lstStyle/>
          <a:p>
            <a:pPr algn="ctr"/>
            <a:r>
              <a:rPr sz="2200" b="1" i="0">
                <a:solidFill>
                  <a:srgbClr val="1E2A38"/>
                </a:solidFill>
                <a:latin typeface="Calibri"/>
              </a:rPr>
              <a:t>PUT SCREENSHOT HERE</a:t>
            </a:r>
          </a:p>
        </p:txBody>
      </p:sp>
      <p:sp>
        <p:nvSpPr>
          <p:cNvPr id="7" name="TextBox 6"/>
          <p:cNvSpPr txBox="1"/>
          <p:nvPr/>
        </p:nvSpPr>
        <p:spPr>
          <a:xfrm>
            <a:off x="1097280" y="4343400"/>
            <a:ext cx="9966960" cy="822960"/>
          </a:xfrm>
          <a:prstGeom prst="rect">
            <a:avLst/>
          </a:prstGeom>
          <a:noFill/>
        </p:spPr>
        <p:txBody>
          <a:bodyPr wrap="square" anchor="t">
            <a:spAutoFit/>
          </a:bodyPr>
          <a:lstStyle/>
          <a:p>
            <a:pPr algn="ctr"/>
            <a:r>
              <a:rPr sz="1400" b="1" i="0">
                <a:solidFill>
                  <a:srgbClr val="E07A3F"/>
                </a:solidFill>
                <a:latin typeface="Calibri"/>
              </a:rPr>
              <a:t>SCREEN: Contracts list + Invoices  ·  login as export_manager or finansist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972800" cy="822960"/>
          </a:xfrm>
          <a:prstGeom prst="rect">
            <a:avLst/>
          </a:prstGeom>
          <a:noFill/>
        </p:spPr>
        <p:txBody>
          <a:bodyPr wrap="square" anchor="t">
            <a:spAutoFit/>
          </a:bodyPr>
          <a:lstStyle/>
          <a:p>
            <a:pPr algn="l"/>
            <a:r>
              <a:rPr sz="3000" b="1" i="0">
                <a:solidFill>
                  <a:srgbClr val="1E2A38"/>
                </a:solidFill>
                <a:latin typeface="Calibri"/>
              </a:rPr>
              <a:t>Admin &amp; Permissions</a:t>
            </a:r>
          </a:p>
        </p:txBody>
      </p:sp>
      <p:sp>
        <p:nvSpPr>
          <p:cNvPr id="4" name="TextBox 3"/>
          <p:cNvSpPr txBox="1"/>
          <p:nvPr/>
        </p:nvSpPr>
        <p:spPr>
          <a:xfrm>
            <a:off x="640080" y="1417320"/>
            <a:ext cx="10972800" cy="822960"/>
          </a:xfrm>
          <a:prstGeom prst="rect">
            <a:avLst/>
          </a:prstGeom>
          <a:noFill/>
        </p:spPr>
        <p:txBody>
          <a:bodyPr wrap="square" anchor="t">
            <a:spAutoFit/>
          </a:bodyPr>
          <a:lstStyle/>
          <a:p>
            <a:pPr algn="l"/>
            <a:r>
              <a:rPr sz="1500" b="0" i="0">
                <a:solidFill>
                  <a:srgbClr val="6B7280"/>
                </a:solidFill>
                <a:latin typeface="Calibri"/>
              </a:rPr>
              <a:t>Configurable role/page/field permissions, reference data, seasons and audit log — the administration layer behind the operational views.</a:t>
            </a:r>
          </a:p>
        </p:txBody>
      </p:sp>
      <p:sp>
        <p:nvSpPr>
          <p:cNvPr id="5" name="Rounded Rectangle 4"/>
          <p:cNvSpPr/>
          <p:nvPr/>
        </p:nvSpPr>
        <p:spPr>
          <a:xfrm>
            <a:off x="822960" y="2331720"/>
            <a:ext cx="10515600" cy="4023360"/>
          </a:xfrm>
          <a:prstGeom prst="roundRect">
            <a:avLst/>
          </a:prstGeom>
          <a:solidFill>
            <a:srgbClr val="F1F4F7"/>
          </a:solidFill>
          <a:ln w="12700">
            <a:solidFill>
              <a:srgbClr val="E3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3566160"/>
            <a:ext cx="10515600" cy="640080"/>
          </a:xfrm>
          <a:prstGeom prst="rect">
            <a:avLst/>
          </a:prstGeom>
          <a:noFill/>
        </p:spPr>
        <p:txBody>
          <a:bodyPr wrap="square" anchor="t">
            <a:spAutoFit/>
          </a:bodyPr>
          <a:lstStyle/>
          <a:p>
            <a:pPr algn="ctr"/>
            <a:r>
              <a:rPr sz="2200" b="1" i="0">
                <a:solidFill>
                  <a:srgbClr val="1E2A38"/>
                </a:solidFill>
                <a:latin typeface="Calibri"/>
              </a:rPr>
              <a:t>PUT SCREENSHOT HERE</a:t>
            </a:r>
          </a:p>
        </p:txBody>
      </p:sp>
      <p:sp>
        <p:nvSpPr>
          <p:cNvPr id="7" name="TextBox 6"/>
          <p:cNvSpPr txBox="1"/>
          <p:nvPr/>
        </p:nvSpPr>
        <p:spPr>
          <a:xfrm>
            <a:off x="1097280" y="4343400"/>
            <a:ext cx="9966960" cy="822960"/>
          </a:xfrm>
          <a:prstGeom prst="rect">
            <a:avLst/>
          </a:prstGeom>
          <a:noFill/>
        </p:spPr>
        <p:txBody>
          <a:bodyPr wrap="square" anchor="t">
            <a:spAutoFit/>
          </a:bodyPr>
          <a:lstStyle/>
          <a:p>
            <a:pPr algn="ctr"/>
            <a:r>
              <a:rPr sz="1400" b="1" i="0">
                <a:solidFill>
                  <a:srgbClr val="E07A3F"/>
                </a:solidFill>
                <a:latin typeface="Calibri"/>
              </a:rPr>
              <a:t>SCREEN: Admin → Permissions / Users  ·  login as admin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058400" cy="365760"/>
          </a:xfrm>
          <a:prstGeom prst="rect">
            <a:avLst/>
          </a:prstGeom>
          <a:noFill/>
        </p:spPr>
        <p:txBody>
          <a:bodyPr wrap="square" anchor="t">
            <a:spAutoFit/>
          </a:bodyPr>
          <a:lstStyle/>
          <a:p>
            <a:pPr algn="l"/>
            <a:r>
              <a:rPr sz="1200" b="1" i="0">
                <a:solidFill>
                  <a:srgbClr val="E07A3F"/>
                </a:solidFill>
                <a:latin typeface="Calibri"/>
              </a:rPr>
              <a:t>HONEST REMAINING SCOPE</a:t>
            </a:r>
          </a:p>
        </p:txBody>
      </p:sp>
      <p:sp>
        <p:nvSpPr>
          <p:cNvPr id="4" name="TextBox 3"/>
          <p:cNvSpPr txBox="1"/>
          <p:nvPr/>
        </p:nvSpPr>
        <p:spPr>
          <a:xfrm>
            <a:off x="548640" y="658368"/>
            <a:ext cx="10972800" cy="822960"/>
          </a:xfrm>
          <a:prstGeom prst="rect">
            <a:avLst/>
          </a:prstGeom>
          <a:noFill/>
        </p:spPr>
        <p:txBody>
          <a:bodyPr wrap="square" anchor="t">
            <a:spAutoFit/>
          </a:bodyPr>
          <a:lstStyle/>
          <a:p>
            <a:pPr algn="l"/>
            <a:r>
              <a:rPr sz="3000" b="1" i="0">
                <a:solidFill>
                  <a:srgbClr val="1E2A38"/>
                </a:solidFill>
                <a:latin typeface="Calibri"/>
              </a:rPr>
              <a:t>What's Left on the Roadmap</a:t>
            </a:r>
          </a:p>
        </p:txBody>
      </p:sp>
      <p:sp>
        <p:nvSpPr>
          <p:cNvPr id="5" name="TextBox 4"/>
          <p:cNvSpPr txBox="1"/>
          <p:nvPr/>
        </p:nvSpPr>
        <p:spPr>
          <a:xfrm>
            <a:off x="731520" y="1828800"/>
            <a:ext cx="10698480" cy="4572000"/>
          </a:xfrm>
          <a:prstGeom prst="rect">
            <a:avLst/>
          </a:prstGeom>
          <a:noFill/>
        </p:spPr>
        <p:txBody>
          <a:bodyPr wrap="square">
            <a:spAutoFit/>
          </a:bodyPr>
          <a:lstStyle/>
          <a:p>
            <a:pPr>
              <a:spcAft>
                <a:spcPts val="1116"/>
              </a:spcAft>
            </a:pPr>
            <a:r>
              <a:rPr sz="1700" b="1">
                <a:solidFill>
                  <a:srgbClr val="1E2A38"/>
                </a:solidFill>
                <a:latin typeface="Calibri"/>
              </a:rPr>
              <a:t>•   P4 — Document auto-generation engine (CMR, invoice, customs, fito, CT-1, TIR): the daily 2–3 hours of manual filling.</a:t>
            </a:r>
          </a:p>
          <a:p>
            <a:pPr>
              <a:spcAft>
                <a:spcPts val="1116"/>
              </a:spcAft>
            </a:pPr>
            <a:r>
              <a:rPr sz="1700" b="0">
                <a:solidFill>
                  <a:srgbClr val="1E2A38"/>
                </a:solidFill>
                <a:latin typeface="Calibri"/>
              </a:rPr>
              <a:t>•   P2 — Transport &amp; Fleet: truck/driver registry, availability board, GPS tracking.</a:t>
            </a:r>
          </a:p>
          <a:p>
            <a:pPr>
              <a:spcAft>
                <a:spcPts val="1116"/>
              </a:spcAft>
            </a:pPr>
            <a:r>
              <a:rPr sz="1700" b="0">
                <a:solidFill>
                  <a:srgbClr val="1E2A38"/>
                </a:solidFill>
                <a:latin typeface="Calibri"/>
              </a:rPr>
              <a:t>•   P1 — Greenhouse depth: mobile/offline harvest input, yield analytics.</a:t>
            </a:r>
          </a:p>
          <a:p>
            <a:pPr>
              <a:spcAft>
                <a:spcPts val="1116"/>
              </a:spcAft>
            </a:pPr>
            <a:r>
              <a:rPr sz="1700" b="0">
                <a:solidFill>
                  <a:srgbClr val="1E2A38"/>
                </a:solidFill>
                <a:latin typeface="Calibri"/>
              </a:rPr>
              <a:t>•   P5 — Finance integrations: Logo Tiger ERP (read) and 1C credit data.</a:t>
            </a:r>
          </a:p>
          <a:p>
            <a:pPr>
              <a:spcAft>
                <a:spcPts val="1116"/>
              </a:spcAft>
            </a:pPr>
            <a:r>
              <a:rPr sz="1700" b="0">
                <a:solidFill>
                  <a:srgbClr val="1E2A38"/>
                </a:solidFill>
                <a:latin typeface="Calibri"/>
              </a:rPr>
              <a:t>•   P3 — Polish and full-season hardening as real volume hits the system.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80160"/>
            <a:ext cx="12191695"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502920"/>
            <a:ext cx="10515600" cy="731520"/>
          </a:xfrm>
          <a:prstGeom prst="rect">
            <a:avLst/>
          </a:prstGeom>
          <a:noFill/>
        </p:spPr>
        <p:txBody>
          <a:bodyPr wrap="square" anchor="t">
            <a:spAutoFit/>
          </a:bodyPr>
          <a:lstStyle/>
          <a:p>
            <a:pPr algn="l"/>
            <a:r>
              <a:rPr sz="3600" b="1" i="0">
                <a:solidFill>
                  <a:srgbClr val="FFFFFF"/>
                </a:solidFill>
                <a:latin typeface="Calibri"/>
              </a:rPr>
              <a:t>Summary</a:t>
            </a:r>
          </a:p>
        </p:txBody>
      </p:sp>
      <p:sp>
        <p:nvSpPr>
          <p:cNvPr id="5" name="TextBox 4"/>
          <p:cNvSpPr txBox="1"/>
          <p:nvPr/>
        </p:nvSpPr>
        <p:spPr>
          <a:xfrm>
            <a:off x="731520" y="1737360"/>
            <a:ext cx="10698480" cy="4572000"/>
          </a:xfrm>
          <a:prstGeom prst="rect">
            <a:avLst/>
          </a:prstGeom>
          <a:noFill/>
        </p:spPr>
        <p:txBody>
          <a:bodyPr wrap="square">
            <a:spAutoFit/>
          </a:bodyPr>
          <a:lstStyle/>
          <a:p>
            <a:pPr>
              <a:spcAft>
                <a:spcPts val="1400"/>
              </a:spcAft>
            </a:pPr>
            <a:r>
              <a:rPr sz="1800">
                <a:solidFill>
                  <a:srgbClr val="DDE3E9"/>
                </a:solidFill>
                <a:latin typeface="Calibri"/>
              </a:rPr>
              <a:t>•   In ~4 months, solo + AI: ~40% of a 12-month, 5-project plan.</a:t>
            </a:r>
          </a:p>
          <a:p>
            <a:pPr>
              <a:spcAft>
                <a:spcPts val="1400"/>
              </a:spcAft>
            </a:pPr>
            <a:r>
              <a:rPr sz="1800">
                <a:solidFill>
                  <a:srgbClr val="DDE3E9"/>
                </a:solidFill>
                <a:latin typeface="Calibri"/>
              </a:rPr>
              <a:t>•   The core export platform (P3) is ~90% done and in daily production use.</a:t>
            </a:r>
          </a:p>
          <a:p>
            <a:pPr>
              <a:spcAft>
                <a:spcPts val="1400"/>
              </a:spcAft>
            </a:pPr>
            <a:r>
              <a:rPr sz="1800">
                <a:solidFill>
                  <a:srgbClr val="DDE3E9"/>
                </a:solidFill>
                <a:latin typeface="Calibri"/>
              </a:rPr>
              <a:t>•   Significant unplanned scope added on top — kanban, tasks, collaboration, the spreadsheet view — much of it to drive real adoption.</a:t>
            </a:r>
          </a:p>
          <a:p>
            <a:pPr>
              <a:spcAft>
                <a:spcPts val="1400"/>
              </a:spcAft>
            </a:pPr>
            <a:r>
              <a:rPr sz="1800">
                <a:solidFill>
                  <a:srgbClr val="DDE3E9"/>
                </a:solidFill>
                <a:latin typeface="Calibri"/>
              </a:rPr>
              <a:t>•   The full export process is live in the operational role views, end to end.</a:t>
            </a:r>
          </a:p>
          <a:p>
            <a:pPr>
              <a:spcAft>
                <a:spcPts val="1400"/>
              </a:spcAft>
            </a:pPr>
            <a:r>
              <a:rPr sz="1800">
                <a:solidFill>
                  <a:srgbClr val="DDE3E9"/>
                </a:solidFill>
                <a:latin typeface="Calibri"/>
              </a:rPr>
              <a:t>•   Remaining work is well-scoped: documents, transport, greenhouse depth, finance integrations.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448</TotalTime>
  <Words>2613</Words>
  <Application>Microsoft Office PowerPoint</Application>
  <PresentationFormat>Widescreen</PresentationFormat>
  <Paragraphs>150</Paragraphs>
  <Slides>23</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User</cp:lastModifiedBy>
  <cp:revision>2</cp:revision>
  <dcterms:created xsi:type="dcterms:W3CDTF">2013-01-27T09:14:16Z</dcterms:created>
  <dcterms:modified xsi:type="dcterms:W3CDTF">2026-06-17T13:01:41Z</dcterms:modified>
  <cp:category/>
</cp:coreProperties>
</file>